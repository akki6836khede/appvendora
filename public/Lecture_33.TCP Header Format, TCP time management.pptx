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21"/>
  </p:notesMasterIdLst>
  <p:sldIdLst>
    <p:sldId id="256" r:id="rId3"/>
    <p:sldId id="257" r:id="rId4"/>
    <p:sldId id="272" r:id="rId5"/>
    <p:sldId id="273" r:id="rId6"/>
    <p:sldId id="274" r:id="rId7"/>
    <p:sldId id="275" r:id="rId8"/>
    <p:sldId id="276" r:id="rId9"/>
    <p:sldId id="277" r:id="rId10"/>
    <p:sldId id="278" r:id="rId11"/>
    <p:sldId id="279" r:id="rId12"/>
    <p:sldId id="282" r:id="rId13"/>
    <p:sldId id="283" r:id="rId14"/>
    <p:sldId id="284" r:id="rId15"/>
    <p:sldId id="280" r:id="rId16"/>
    <p:sldId id="281" r:id="rId17"/>
    <p:sldId id="285" r:id="rId18"/>
    <p:sldId id="270" r:id="rId19"/>
    <p:sldId id="271" r:id="rId20"/>
  </p:sldIdLst>
  <p:sldSz cx="12192000" cy="6858000"/>
  <p:notesSz cx="6858000" cy="9144000"/>
  <p:embeddedFontLst>
    <p:embeddedFont>
      <p:font typeface="Zilla Slab" panose="020B060402020202020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g/lgrH4yCF+hXS7J1BzEfCERk4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5F5158-74CF-4CC3-9F48-3F9F29BCFD60}">
  <a:tblStyle styleId="{0B5F5158-74CF-4CC3-9F48-3F9F29BCFD60}" styleName="Table_0">
    <a:wholeTbl>
      <a:tcTxStyle b="off" i="off">
        <a:font>
          <a:latin typeface="Metropolis"/>
          <a:ea typeface="Metropolis"/>
          <a:cs typeface="Metropoli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2FA"/>
          </a:solidFill>
        </a:fill>
      </a:tcStyle>
    </a:wholeTbl>
    <a:band1H>
      <a:tcTxStyle b="off" i="off"/>
      <a:tcStyle>
        <a:tcBdr/>
        <a:fill>
          <a:solidFill>
            <a:srgbClr val="E0E3F5"/>
          </a:solidFill>
        </a:fill>
      </a:tcStyle>
    </a:band1H>
    <a:band2H>
      <a:tcTxStyle b="off" i="off"/>
      <a:tcStyle>
        <a:tcBdr/>
      </a:tcStyle>
    </a:band2H>
    <a:band1V>
      <a:tcTxStyle b="off" i="off"/>
      <a:tcStyle>
        <a:tcBdr/>
        <a:fill>
          <a:solidFill>
            <a:srgbClr val="E0E3F5"/>
          </a:solidFill>
        </a:fill>
      </a:tcStyle>
    </a:band1V>
    <a:band2V>
      <a:tcTxStyle b="off" i="off"/>
      <a:tcStyle>
        <a:tcBdr/>
      </a:tcStyle>
    </a:band2V>
    <a:lastCol>
      <a:tcTxStyle b="on" i="off">
        <a:font>
          <a:latin typeface="Metropolis"/>
          <a:ea typeface="Metropolis"/>
          <a:cs typeface="Metropolis"/>
        </a:font>
        <a:schemeClr val="lt1"/>
      </a:tcTxStyle>
      <a:tcStyle>
        <a:tcBdr/>
        <a:fill>
          <a:solidFill>
            <a:schemeClr val="accent1"/>
          </a:solidFill>
        </a:fill>
      </a:tcStyle>
    </a:lastCol>
    <a:firstCol>
      <a:tcTxStyle b="on" i="off">
        <a:font>
          <a:latin typeface="Metropolis"/>
          <a:ea typeface="Metropolis"/>
          <a:cs typeface="Metropolis"/>
        </a:font>
        <a:schemeClr val="lt1"/>
      </a:tcTxStyle>
      <a:tcStyle>
        <a:tcBdr/>
        <a:fill>
          <a:solidFill>
            <a:schemeClr val="accent1"/>
          </a:solidFill>
        </a:fill>
      </a:tcStyle>
    </a:firstCol>
    <a:lastRow>
      <a:tcTxStyle b="on" i="off">
        <a:font>
          <a:latin typeface="Metropolis"/>
          <a:ea typeface="Metropolis"/>
          <a:cs typeface="Metropoli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Metropolis"/>
          <a:ea typeface="Metropolis"/>
          <a:cs typeface="Metropoli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36"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pic>
        <p:nvPicPr>
          <p:cNvPr id="16" name="Google Shape;16;p18"/>
          <p:cNvPicPr preferRelativeResize="0"/>
          <p:nvPr/>
        </p:nvPicPr>
        <p:blipFill rotWithShape="1">
          <a:blip r:embed="rId2">
            <a:alphaModFix/>
          </a:blip>
          <a:srcRect/>
          <a:stretch/>
        </p:blipFill>
        <p:spPr>
          <a:xfrm>
            <a:off x="0" y="0"/>
            <a:ext cx="12192000" cy="6857999"/>
          </a:xfrm>
          <a:prstGeom prst="rect">
            <a:avLst/>
          </a:prstGeom>
          <a:noFill/>
          <a:ln>
            <a:noFill/>
          </a:ln>
        </p:spPr>
      </p:pic>
      <p:sp>
        <p:nvSpPr>
          <p:cNvPr id="17" name="Google Shape;17;p18"/>
          <p:cNvSpPr txBox="1">
            <a:spLocks noGrp="1"/>
          </p:cNvSpPr>
          <p:nvPr>
            <p:ph type="ctrTitle"/>
          </p:nvPr>
        </p:nvSpPr>
        <p:spPr>
          <a:xfrm>
            <a:off x="944880" y="2836506"/>
            <a:ext cx="9598712" cy="19425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8"/>
          <p:cNvSpPr txBox="1">
            <a:spLocks noGrp="1"/>
          </p:cNvSpPr>
          <p:nvPr>
            <p:ph type="subTitle" idx="1"/>
          </p:nvPr>
        </p:nvSpPr>
        <p:spPr>
          <a:xfrm>
            <a:off x="944880" y="5108704"/>
            <a:ext cx="9144000" cy="60550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18"/>
          <p:cNvPicPr preferRelativeResize="0"/>
          <p:nvPr/>
        </p:nvPicPr>
        <p:blipFill rotWithShape="1">
          <a:blip r:embed="rId3">
            <a:alphaModFix/>
          </a:blip>
          <a:srcRect/>
          <a:stretch/>
        </p:blipFill>
        <p:spPr>
          <a:xfrm>
            <a:off x="944880" y="1041399"/>
            <a:ext cx="3151259" cy="686813"/>
          </a:xfrm>
          <a:prstGeom prst="rect">
            <a:avLst/>
          </a:prstGeom>
          <a:noFill/>
          <a:ln>
            <a:noFill/>
          </a:ln>
        </p:spPr>
      </p:pic>
      <p:pic>
        <p:nvPicPr>
          <p:cNvPr id="20" name="Google Shape;20;p18"/>
          <p:cNvPicPr preferRelativeResize="0"/>
          <p:nvPr/>
        </p:nvPicPr>
        <p:blipFill rotWithShape="1">
          <a:blip r:embed="rId4">
            <a:alphaModFix/>
          </a:blip>
          <a:srcRect/>
          <a:stretch/>
        </p:blipFill>
        <p:spPr>
          <a:xfrm>
            <a:off x="944880" y="6334744"/>
            <a:ext cx="1725318" cy="3657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2" name="Google Shape;22;p19"/>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23" name="Google Shape;23;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5" name="Google Shape;25;p19"/>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26" name="Google Shape;26;p19"/>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27" name="Google Shape;27;p19"/>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9"/>
          <p:cNvPicPr preferRelativeResize="0"/>
          <p:nvPr/>
        </p:nvPicPr>
        <p:blipFill rotWithShape="1">
          <a:blip r:embed="rId5">
            <a:alphaModFix amt="20000"/>
          </a:blip>
          <a:srcRect t="911" r="25321" b="909"/>
          <a:stretch/>
        </p:blipFill>
        <p:spPr>
          <a:xfrm>
            <a:off x="0" y="0"/>
            <a:ext cx="12164007" cy="6858000"/>
          </a:xfrm>
          <a:prstGeom prst="rect">
            <a:avLst/>
          </a:prstGeom>
          <a:noFill/>
          <a:ln>
            <a:noFill/>
          </a:ln>
        </p:spPr>
      </p:pic>
      <p:sp>
        <p:nvSpPr>
          <p:cNvPr id="29" name="Google Shape;29;p19"/>
          <p:cNvSpPr/>
          <p:nvPr/>
        </p:nvSpPr>
        <p:spPr>
          <a:xfrm>
            <a:off x="0" y="0"/>
            <a:ext cx="346364" cy="421972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 name="Google Shape;30;p19"/>
          <p:cNvSpPr/>
          <p:nvPr/>
        </p:nvSpPr>
        <p:spPr>
          <a:xfrm>
            <a:off x="0" y="4219720"/>
            <a:ext cx="346364" cy="263827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31" name="Google Shape;31;p19"/>
          <p:cNvCxnSpPr/>
          <p:nvPr/>
        </p:nvCxnSpPr>
        <p:spPr>
          <a:xfrm>
            <a:off x="914400" y="6280030"/>
            <a:ext cx="1863306" cy="0"/>
          </a:xfrm>
          <a:prstGeom prst="straightConnector1">
            <a:avLst/>
          </a:prstGeom>
          <a:noFill/>
          <a:ln w="19050" cap="flat" cmpd="sng">
            <a:solidFill>
              <a:schemeClr val="lt2"/>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pic>
        <p:nvPicPr>
          <p:cNvPr id="33" name="Google Shape;33;p22"/>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34" name="Google Shape;34;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6000"/>
              <a:buFont typeface="Arial"/>
              <a:buNone/>
              <a:defRPr sz="6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36" name="Google Shape;36;p22"/>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37" name="Google Shape;37;p22"/>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38" name="Google Shape;38;p22"/>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pic>
        <p:nvPicPr>
          <p:cNvPr id="40" name="Google Shape;40;p23"/>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1" name="Google Shape;4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4" name="Google Shape;44;p23"/>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45" name="Google Shape;45;p23"/>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46" name="Google Shape;46;p23"/>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24"/>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9" name="Google Shape;49;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24"/>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55" name="Google Shape;55;p24"/>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56" name="Google Shape;56;p24"/>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25"/>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59" name="Google Shape;5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0" name="Google Shape;60;p25"/>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1" name="Google Shape;61;p25"/>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2" name="Google Shape;62;p25"/>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26"/>
          <p:cNvPicPr preferRelativeResize="0"/>
          <p:nvPr/>
        </p:nvPicPr>
        <p:blipFill rotWithShape="1">
          <a:blip r:embed="rId2">
            <a:alphaModFix/>
          </a:blip>
          <a:srcRect/>
          <a:stretch/>
        </p:blipFill>
        <p:spPr>
          <a:xfrm>
            <a:off x="11756135" y="0"/>
            <a:ext cx="435865" cy="432817"/>
          </a:xfrm>
          <a:prstGeom prst="rect">
            <a:avLst/>
          </a:prstGeom>
          <a:noFill/>
          <a:ln>
            <a:noFill/>
          </a:ln>
        </p:spPr>
      </p:pic>
      <p:pic>
        <p:nvPicPr>
          <p:cNvPr id="65" name="Google Shape;65;p26"/>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6" name="Google Shape;66;p26"/>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7" name="Google Shape;67;p26"/>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pic>
        <p:nvPicPr>
          <p:cNvPr id="69" name="Google Shape;69;p27"/>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0" name="Google Shape;70;p27"/>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3" name="Google Shape;73;p27"/>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74" name="Google Shape;74;p27"/>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75" name="Google Shape;75;p27"/>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28"/>
          <p:cNvSpPr/>
          <p:nvPr/>
        </p:nvSpPr>
        <p:spPr>
          <a:xfrm>
            <a:off x="5076825" y="885825"/>
            <a:ext cx="6275387" cy="498316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8" name="Google Shape;78;p28"/>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9" name="Google Shape;79;p28"/>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a:spLocks noGrp="1"/>
          </p:cNvSpPr>
          <p:nvPr>
            <p:ph type="pic" idx="2"/>
          </p:nvPr>
        </p:nvSpPr>
        <p:spPr>
          <a:xfrm>
            <a:off x="5183188" y="987426"/>
            <a:ext cx="6065837" cy="4737100"/>
          </a:xfrm>
          <a:prstGeom prst="rect">
            <a:avLst/>
          </a:prstGeom>
          <a:noFill/>
          <a:ln>
            <a:noFill/>
          </a:ln>
        </p:spPr>
      </p:sp>
      <p:sp>
        <p:nvSpPr>
          <p:cNvPr id="81" name="Google Shape;81;p28"/>
          <p:cNvSpPr txBox="1">
            <a:spLocks noGrp="1"/>
          </p:cNvSpPr>
          <p:nvPr>
            <p:ph type="body" idx="1"/>
          </p:nvPr>
        </p:nvSpPr>
        <p:spPr>
          <a:xfrm>
            <a:off x="839788" y="1578718"/>
            <a:ext cx="3932237" cy="42902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2" name="Google Shape;82;p28"/>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83" name="Google Shape;83;p28"/>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84" name="Google Shape;84;p28"/>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pic>
        <p:nvPicPr>
          <p:cNvPr id="86" name="Google Shape;86;p29"/>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87" name="Google Shape;87;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9" name="Google Shape;89;p29"/>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0" name="Google Shape;90;p29"/>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1" name="Google Shape;91;p29"/>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pic>
        <p:nvPicPr>
          <p:cNvPr id="93" name="Google Shape;93;p30"/>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94" name="Google Shape;94;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30"/>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7" name="Google Shape;97;p30"/>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8" name="Google Shape;98;p30"/>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99"/>
        <p:cNvGrpSpPr/>
        <p:nvPr/>
      </p:nvGrpSpPr>
      <p:grpSpPr>
        <a:xfrm>
          <a:off x="0" y="0"/>
          <a:ext cx="0" cy="0"/>
          <a:chOff x="0" y="0"/>
          <a:chExt cx="0" cy="0"/>
        </a:xfrm>
      </p:grpSpPr>
      <p:pic>
        <p:nvPicPr>
          <p:cNvPr id="100" name="Google Shape;100;p31"/>
          <p:cNvPicPr preferRelativeResize="0"/>
          <p:nvPr/>
        </p:nvPicPr>
        <p:blipFill rotWithShape="1">
          <a:blip r:embed="rId2">
            <a:alphaModFix/>
          </a:blip>
          <a:srcRect/>
          <a:stretch/>
        </p:blipFill>
        <p:spPr>
          <a:xfrm>
            <a:off x="1092362" y="3032254"/>
            <a:ext cx="342035" cy="376238"/>
          </a:xfrm>
          <a:prstGeom prst="rect">
            <a:avLst/>
          </a:prstGeom>
          <a:noFill/>
          <a:ln>
            <a:noFill/>
          </a:ln>
        </p:spPr>
      </p:pic>
      <p:pic>
        <p:nvPicPr>
          <p:cNvPr id="101" name="Google Shape;101;p31"/>
          <p:cNvPicPr preferRelativeResize="0"/>
          <p:nvPr/>
        </p:nvPicPr>
        <p:blipFill rotWithShape="1">
          <a:blip r:embed="rId3">
            <a:alphaModFix/>
          </a:blip>
          <a:srcRect/>
          <a:stretch/>
        </p:blipFill>
        <p:spPr>
          <a:xfrm>
            <a:off x="1109779" y="3926565"/>
            <a:ext cx="307200" cy="384000"/>
          </a:xfrm>
          <a:prstGeom prst="rect">
            <a:avLst/>
          </a:prstGeom>
          <a:noFill/>
          <a:ln>
            <a:noFill/>
          </a:ln>
        </p:spPr>
      </p:pic>
      <p:pic>
        <p:nvPicPr>
          <p:cNvPr id="102" name="Google Shape;102;p31"/>
          <p:cNvPicPr preferRelativeResize="0"/>
          <p:nvPr/>
        </p:nvPicPr>
        <p:blipFill rotWithShape="1">
          <a:blip r:embed="rId4">
            <a:alphaModFix/>
          </a:blip>
          <a:srcRect/>
          <a:stretch/>
        </p:blipFill>
        <p:spPr>
          <a:xfrm>
            <a:off x="1060775" y="4758611"/>
            <a:ext cx="405209" cy="405209"/>
          </a:xfrm>
          <a:prstGeom prst="rect">
            <a:avLst/>
          </a:prstGeom>
          <a:noFill/>
          <a:ln>
            <a:noFill/>
          </a:ln>
        </p:spPr>
      </p:pic>
      <p:pic>
        <p:nvPicPr>
          <p:cNvPr id="103" name="Google Shape;103;p31"/>
          <p:cNvPicPr preferRelativeResize="0"/>
          <p:nvPr/>
        </p:nvPicPr>
        <p:blipFill rotWithShape="1">
          <a:blip r:embed="rId5">
            <a:alphaModFix/>
          </a:blip>
          <a:srcRect/>
          <a:stretch/>
        </p:blipFill>
        <p:spPr>
          <a:xfrm>
            <a:off x="1109779" y="5676372"/>
            <a:ext cx="3172854" cy="376042"/>
          </a:xfrm>
          <a:prstGeom prst="rect">
            <a:avLst/>
          </a:prstGeom>
          <a:noFill/>
          <a:ln>
            <a:noFill/>
          </a:ln>
        </p:spPr>
      </p:pic>
      <p:pic>
        <p:nvPicPr>
          <p:cNvPr id="104" name="Google Shape;104;p31"/>
          <p:cNvPicPr preferRelativeResize="0"/>
          <p:nvPr/>
        </p:nvPicPr>
        <p:blipFill rotWithShape="1">
          <a:blip r:embed="rId6">
            <a:alphaModFix/>
          </a:blip>
          <a:srcRect/>
          <a:stretch/>
        </p:blipFill>
        <p:spPr>
          <a:xfrm>
            <a:off x="944880" y="1041399"/>
            <a:ext cx="4760571" cy="1037560"/>
          </a:xfrm>
          <a:prstGeom prst="rect">
            <a:avLst/>
          </a:prstGeom>
          <a:noFill/>
          <a:ln>
            <a:noFill/>
          </a:ln>
        </p:spPr>
      </p:pic>
      <p:sp>
        <p:nvSpPr>
          <p:cNvPr id="105" name="Google Shape;105;p31"/>
          <p:cNvSpPr txBox="1"/>
          <p:nvPr/>
        </p:nvSpPr>
        <p:spPr>
          <a:xfrm>
            <a:off x="1628774" y="3921043"/>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0731 3111500, 0731 3111501 </a:t>
            </a:r>
            <a:endParaRPr sz="1400" b="0" i="0" u="none" strike="noStrike" cap="none">
              <a:solidFill>
                <a:srgbClr val="000000"/>
              </a:solidFill>
              <a:latin typeface="Arial"/>
              <a:ea typeface="Arial"/>
              <a:cs typeface="Arial"/>
              <a:sym typeface="Arial"/>
            </a:endParaRPr>
          </a:p>
        </p:txBody>
      </p:sp>
      <p:sp>
        <p:nvSpPr>
          <p:cNvPr id="106" name="Google Shape;106;p31"/>
          <p:cNvSpPr txBox="1"/>
          <p:nvPr/>
        </p:nvSpPr>
        <p:spPr>
          <a:xfrm>
            <a:off x="1628774" y="4797553"/>
            <a:ext cx="840740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www.medicaps.ac.in</a:t>
            </a:r>
            <a:endParaRPr sz="1400" b="0" i="0" u="none" strike="noStrike" cap="none">
              <a:solidFill>
                <a:srgbClr val="000000"/>
              </a:solidFill>
              <a:latin typeface="Arial"/>
              <a:ea typeface="Arial"/>
              <a:cs typeface="Arial"/>
              <a:sym typeface="Arial"/>
            </a:endParaRPr>
          </a:p>
        </p:txBody>
      </p:sp>
      <p:sp>
        <p:nvSpPr>
          <p:cNvPr id="107" name="Google Shape;107;p31"/>
          <p:cNvSpPr txBox="1"/>
          <p:nvPr/>
        </p:nvSpPr>
        <p:spPr>
          <a:xfrm>
            <a:off x="1628774" y="3030245"/>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A.B. Road, Pigdamber, Rau, Indore – 453331 </a:t>
            </a: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114"/>
        <p:cNvGrpSpPr/>
        <p:nvPr/>
      </p:nvGrpSpPr>
      <p:grpSpPr>
        <a:xfrm>
          <a:off x="0" y="0"/>
          <a:ext cx="0" cy="0"/>
          <a:chOff x="0" y="0"/>
          <a:chExt cx="0" cy="0"/>
        </a:xfrm>
      </p:grpSpPr>
      <p:pic>
        <p:nvPicPr>
          <p:cNvPr id="115" name="Google Shape;115;p21"/>
          <p:cNvPicPr preferRelativeResize="0"/>
          <p:nvPr/>
        </p:nvPicPr>
        <p:blipFill rotWithShape="1">
          <a:blip r:embed="rId2">
            <a:alphaModFix/>
          </a:blip>
          <a:srcRect/>
          <a:stretch/>
        </p:blipFill>
        <p:spPr>
          <a:xfrm>
            <a:off x="1092362" y="3032254"/>
            <a:ext cx="342035" cy="376238"/>
          </a:xfrm>
          <a:prstGeom prst="rect">
            <a:avLst/>
          </a:prstGeom>
          <a:noFill/>
          <a:ln>
            <a:noFill/>
          </a:ln>
        </p:spPr>
      </p:pic>
      <p:pic>
        <p:nvPicPr>
          <p:cNvPr id="116" name="Google Shape;116;p21"/>
          <p:cNvPicPr preferRelativeResize="0"/>
          <p:nvPr/>
        </p:nvPicPr>
        <p:blipFill rotWithShape="1">
          <a:blip r:embed="rId3">
            <a:alphaModFix/>
          </a:blip>
          <a:srcRect/>
          <a:stretch/>
        </p:blipFill>
        <p:spPr>
          <a:xfrm>
            <a:off x="1109779" y="3926565"/>
            <a:ext cx="307200" cy="384000"/>
          </a:xfrm>
          <a:prstGeom prst="rect">
            <a:avLst/>
          </a:prstGeom>
          <a:noFill/>
          <a:ln>
            <a:noFill/>
          </a:ln>
        </p:spPr>
      </p:pic>
      <p:pic>
        <p:nvPicPr>
          <p:cNvPr id="117" name="Google Shape;117;p21"/>
          <p:cNvPicPr preferRelativeResize="0"/>
          <p:nvPr/>
        </p:nvPicPr>
        <p:blipFill rotWithShape="1">
          <a:blip r:embed="rId4">
            <a:alphaModFix/>
          </a:blip>
          <a:srcRect/>
          <a:stretch/>
        </p:blipFill>
        <p:spPr>
          <a:xfrm>
            <a:off x="1060775" y="4758611"/>
            <a:ext cx="405209" cy="405209"/>
          </a:xfrm>
          <a:prstGeom prst="rect">
            <a:avLst/>
          </a:prstGeom>
          <a:noFill/>
          <a:ln>
            <a:noFill/>
          </a:ln>
        </p:spPr>
      </p:pic>
      <p:pic>
        <p:nvPicPr>
          <p:cNvPr id="118" name="Google Shape;118;p21"/>
          <p:cNvPicPr preferRelativeResize="0"/>
          <p:nvPr/>
        </p:nvPicPr>
        <p:blipFill rotWithShape="1">
          <a:blip r:embed="rId5">
            <a:alphaModFix/>
          </a:blip>
          <a:srcRect/>
          <a:stretch/>
        </p:blipFill>
        <p:spPr>
          <a:xfrm>
            <a:off x="1109779" y="5676372"/>
            <a:ext cx="3172854" cy="376042"/>
          </a:xfrm>
          <a:prstGeom prst="rect">
            <a:avLst/>
          </a:prstGeom>
          <a:noFill/>
          <a:ln>
            <a:noFill/>
          </a:ln>
        </p:spPr>
      </p:pic>
      <p:pic>
        <p:nvPicPr>
          <p:cNvPr id="119" name="Google Shape;119;p21"/>
          <p:cNvPicPr preferRelativeResize="0"/>
          <p:nvPr/>
        </p:nvPicPr>
        <p:blipFill rotWithShape="1">
          <a:blip r:embed="rId6">
            <a:alphaModFix/>
          </a:blip>
          <a:srcRect/>
          <a:stretch/>
        </p:blipFill>
        <p:spPr>
          <a:xfrm>
            <a:off x="944880" y="1041399"/>
            <a:ext cx="4760571" cy="1037560"/>
          </a:xfrm>
          <a:prstGeom prst="rect">
            <a:avLst/>
          </a:prstGeom>
          <a:noFill/>
          <a:ln>
            <a:noFill/>
          </a:ln>
        </p:spPr>
      </p:pic>
      <p:sp>
        <p:nvSpPr>
          <p:cNvPr id="120" name="Google Shape;120;p21"/>
          <p:cNvSpPr txBox="1"/>
          <p:nvPr/>
        </p:nvSpPr>
        <p:spPr>
          <a:xfrm>
            <a:off x="1628774" y="3921043"/>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0731 3111500, 0731 3111501 </a:t>
            </a:r>
            <a:endParaRPr sz="1400" b="0" i="0" u="none" strike="noStrike" cap="none">
              <a:solidFill>
                <a:srgbClr val="000000"/>
              </a:solidFill>
              <a:latin typeface="Arial"/>
              <a:ea typeface="Arial"/>
              <a:cs typeface="Arial"/>
              <a:sym typeface="Arial"/>
            </a:endParaRPr>
          </a:p>
        </p:txBody>
      </p:sp>
      <p:sp>
        <p:nvSpPr>
          <p:cNvPr id="121" name="Google Shape;121;p21"/>
          <p:cNvSpPr txBox="1"/>
          <p:nvPr/>
        </p:nvSpPr>
        <p:spPr>
          <a:xfrm>
            <a:off x="1628774" y="4797553"/>
            <a:ext cx="840740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www.medicaps.ac.in</a:t>
            </a:r>
            <a:endParaRPr sz="1400" b="0" i="0" u="none" strike="noStrike" cap="none">
              <a:solidFill>
                <a:srgbClr val="000000"/>
              </a:solidFill>
              <a:latin typeface="Arial"/>
              <a:ea typeface="Arial"/>
              <a:cs typeface="Arial"/>
              <a:sym typeface="Arial"/>
            </a:endParaRPr>
          </a:p>
        </p:txBody>
      </p:sp>
      <p:sp>
        <p:nvSpPr>
          <p:cNvPr id="122" name="Google Shape;122;p21"/>
          <p:cNvSpPr txBox="1"/>
          <p:nvPr/>
        </p:nvSpPr>
        <p:spPr>
          <a:xfrm>
            <a:off x="1628774" y="3030245"/>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0" i="0" u="none" strike="noStrike" cap="none">
                <a:solidFill>
                  <a:schemeClr val="lt1"/>
                </a:solidFill>
                <a:latin typeface="Arial"/>
                <a:ea typeface="Arial"/>
                <a:cs typeface="Arial"/>
                <a:sym typeface="Arial"/>
              </a:rPr>
              <a:t>A.B. Road, Pigdamber, Rau, Indore – 453331 </a:t>
            </a: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Arial"/>
              <a:buNone/>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0" name="Google Shape;110;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111" name="Google Shape;11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12" name="Google Shape;11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13" name="Google Shape;11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mailto:suggestions@medicaps.ac.i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
          <p:cNvSpPr txBox="1">
            <a:spLocks noGrp="1"/>
          </p:cNvSpPr>
          <p:nvPr>
            <p:ph type="ctrTitle"/>
          </p:nvPr>
        </p:nvSpPr>
        <p:spPr>
          <a:xfrm>
            <a:off x="944880" y="3906370"/>
            <a:ext cx="5624008" cy="87267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Arial"/>
              <a:buNone/>
            </a:pPr>
            <a:r>
              <a:rPr lang="en-US" sz="4400" dirty="0">
                <a:latin typeface="Metropolis"/>
                <a:sym typeface="Arial"/>
              </a:rPr>
              <a:t>CS3CO43 Computer Network </a:t>
            </a:r>
            <a:endParaRPr sz="4400" dirty="0">
              <a:latin typeface="Metropolis"/>
              <a:sym typeface="Arial"/>
            </a:endParaRPr>
          </a:p>
        </p:txBody>
      </p:sp>
      <p:sp>
        <p:nvSpPr>
          <p:cNvPr id="129" name="Google Shape;129;p1"/>
          <p:cNvSpPr txBox="1">
            <a:spLocks noGrp="1"/>
          </p:cNvSpPr>
          <p:nvPr>
            <p:ph type="subTitle" idx="1"/>
          </p:nvPr>
        </p:nvSpPr>
        <p:spPr>
          <a:xfrm>
            <a:off x="944880" y="5108704"/>
            <a:ext cx="9144000" cy="60550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3600"/>
              <a:buNone/>
            </a:pPr>
            <a:r>
              <a:rPr lang="en-US" dirty="0">
                <a:latin typeface="Metropolis"/>
              </a:rPr>
              <a:t>Unit -4 Transport Layer</a:t>
            </a:r>
            <a:endParaRPr dirty="0">
              <a:latin typeface="Metropoli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
          <p:cNvSpPr txBox="1">
            <a:spLocks noGrp="1"/>
          </p:cNvSpPr>
          <p:nvPr>
            <p:ph type="title"/>
          </p:nvPr>
        </p:nvSpPr>
        <p:spPr>
          <a:xfrm>
            <a:off x="838200" y="365126"/>
            <a:ext cx="10515600" cy="564264"/>
          </a:xfrm>
          <a:prstGeom prst="rect">
            <a:avLst/>
          </a:prstGeom>
          <a:noFill/>
          <a:ln>
            <a:noFill/>
          </a:ln>
        </p:spPr>
        <p:txBody>
          <a:bodyPr spcFirstLastPara="1" wrap="square" lIns="91425" tIns="45700" rIns="91425" bIns="45700" anchor="ctr" anchorCtr="0">
            <a:normAutofit fontScale="90000"/>
          </a:bodyPr>
          <a:lstStyle/>
          <a:p>
            <a:br>
              <a:rPr lang="en-US" sz="3600" dirty="0"/>
            </a:br>
            <a:br>
              <a:rPr lang="en-US" sz="3600" dirty="0"/>
            </a:br>
            <a:r>
              <a:rPr lang="en-US" sz="3600" dirty="0"/>
              <a:t>C</a:t>
            </a:r>
            <a:r>
              <a:rPr lang="en-IN" sz="4000" dirty="0" err="1">
                <a:latin typeface="Metropolis"/>
              </a:rPr>
              <a:t>ontent</a:t>
            </a:r>
            <a:br>
              <a:rPr lang="en-IN" dirty="0"/>
            </a:br>
            <a:br>
              <a:rPr lang="en-IN" dirty="0"/>
            </a:br>
            <a:endParaRPr dirty="0"/>
          </a:p>
        </p:txBody>
      </p:sp>
      <p:sp>
        <p:nvSpPr>
          <p:cNvPr id="135" name="Google Shape;135;p2"/>
          <p:cNvSpPr txBox="1">
            <a:spLocks noGrp="1"/>
          </p:cNvSpPr>
          <p:nvPr>
            <p:ph type="body" idx="1"/>
          </p:nvPr>
        </p:nvSpPr>
        <p:spPr>
          <a:xfrm>
            <a:off x="615511" y="1136078"/>
            <a:ext cx="10515600" cy="5356785"/>
          </a:xfrm>
          <a:prstGeom prst="rect">
            <a:avLst/>
          </a:prstGeom>
          <a:noFill/>
          <a:ln>
            <a:noFill/>
          </a:ln>
        </p:spPr>
        <p:txBody>
          <a:bodyPr spcFirstLastPara="1" wrap="square" lIns="91425" tIns="45700" rIns="91425" bIns="45700" anchor="t" anchorCtr="0">
            <a:noAutofit/>
          </a:bodyPr>
          <a:lstStyle/>
          <a:p>
            <a:r>
              <a:rPr lang="en-IN" sz="2400" dirty="0">
                <a:latin typeface="Metropolis"/>
              </a:rPr>
              <a:t>Transport Layer</a:t>
            </a:r>
          </a:p>
          <a:p>
            <a:pPr fontAlgn="base"/>
            <a:r>
              <a:rPr lang="en-IN" sz="2400" dirty="0">
                <a:latin typeface="Metropolis"/>
              </a:rPr>
              <a:t>Design Issues, Transport Service Primitives, </a:t>
            </a:r>
          </a:p>
          <a:p>
            <a:pPr fontAlgn="base"/>
            <a:r>
              <a:rPr lang="en-IN" sz="2400" dirty="0">
                <a:latin typeface="Metropolis"/>
              </a:rPr>
              <a:t>Socket Programming, </a:t>
            </a:r>
          </a:p>
          <a:p>
            <a:pPr fontAlgn="base"/>
            <a:r>
              <a:rPr lang="en-IN" sz="2400" dirty="0">
                <a:latin typeface="Metropolis"/>
              </a:rPr>
              <a:t>TCP: Connection Management, </a:t>
            </a:r>
          </a:p>
          <a:p>
            <a:pPr fontAlgn="base"/>
            <a:r>
              <a:rPr lang="en-IN" sz="2400" dirty="0">
                <a:latin typeface="Metropolis"/>
              </a:rPr>
              <a:t>Reliability of Data Transfers, </a:t>
            </a:r>
          </a:p>
          <a:p>
            <a:pPr fontAlgn="base"/>
            <a:r>
              <a:rPr lang="en-IN" sz="2400" dirty="0">
                <a:latin typeface="Metropolis"/>
              </a:rPr>
              <a:t>TCP Flow Control, </a:t>
            </a:r>
          </a:p>
          <a:p>
            <a:pPr fontAlgn="base"/>
            <a:r>
              <a:rPr lang="en-IN" sz="2400" dirty="0">
                <a:latin typeface="Metropolis"/>
              </a:rPr>
              <a:t>TCP Congestion Control, </a:t>
            </a:r>
          </a:p>
          <a:p>
            <a:pPr fontAlgn="base"/>
            <a:r>
              <a:rPr lang="en-IN" sz="2400" dirty="0">
                <a:latin typeface="Metropolis"/>
              </a:rPr>
              <a:t>TCP Header Format, TCP Timer Management. </a:t>
            </a:r>
          </a:p>
          <a:p>
            <a:pPr fontAlgn="base"/>
            <a:r>
              <a:rPr lang="en-IN" sz="2400" dirty="0">
                <a:latin typeface="Metropolis"/>
              </a:rPr>
              <a:t>UDP: Header Format, </a:t>
            </a:r>
          </a:p>
          <a:p>
            <a:pPr fontAlgn="base"/>
            <a:r>
              <a:rPr lang="en-IN" sz="2400" dirty="0">
                <a:latin typeface="Metropolis"/>
              </a:rPr>
              <a:t>RPC, RTP,  </a:t>
            </a:r>
          </a:p>
          <a:p>
            <a:pPr fontAlgn="base"/>
            <a:r>
              <a:rPr lang="en-IN" sz="2400" dirty="0">
                <a:latin typeface="Metropolis"/>
              </a:rPr>
              <a:t>Session layer: Authentication, Authorization, Session layer protocol (PAP, SCP, H.245). </a:t>
            </a:r>
          </a:p>
          <a:p>
            <a:pPr marL="0" lvl="0" indent="0" algn="l" rtl="0">
              <a:lnSpc>
                <a:spcPct val="90000"/>
              </a:lnSpc>
              <a:spcBef>
                <a:spcPts val="1000"/>
              </a:spcBef>
              <a:spcAft>
                <a:spcPts val="0"/>
              </a:spcAft>
              <a:buClr>
                <a:srgbClr val="000000"/>
              </a:buClr>
              <a:buSzPts val="2500"/>
              <a:buNone/>
            </a:pPr>
            <a:r>
              <a:rPr lang="en-US" sz="2400" b="0" i="0" dirty="0">
                <a:solidFill>
                  <a:srgbClr val="000000"/>
                </a:solidFill>
                <a:latin typeface="Metropolis"/>
              </a:rPr>
              <a:t>.</a:t>
            </a:r>
            <a:endParaRPr sz="2400" dirty="0">
              <a:latin typeface="Metropolis"/>
            </a:endParaRPr>
          </a:p>
          <a:p>
            <a:pPr marL="0" lvl="0" indent="0" algn="l" rtl="0">
              <a:lnSpc>
                <a:spcPct val="90000"/>
              </a:lnSpc>
              <a:spcBef>
                <a:spcPts val="1000"/>
              </a:spcBef>
              <a:spcAft>
                <a:spcPts val="0"/>
              </a:spcAft>
              <a:buClr>
                <a:schemeClr val="dk1"/>
              </a:buClr>
              <a:buSzPts val="2500"/>
              <a:buNone/>
            </a:pPr>
            <a:endParaRPr sz="2400" dirty="0">
              <a:latin typeface="Metropolis"/>
            </a:endParaRPr>
          </a:p>
          <a:p>
            <a:pPr marL="0" lvl="0" indent="0" algn="l" rtl="0">
              <a:lnSpc>
                <a:spcPct val="90000"/>
              </a:lnSpc>
              <a:spcBef>
                <a:spcPts val="1000"/>
              </a:spcBef>
              <a:spcAft>
                <a:spcPts val="0"/>
              </a:spcAft>
              <a:buClr>
                <a:schemeClr val="dk1"/>
              </a:buClr>
              <a:buSzPts val="2500"/>
              <a:buNone/>
            </a:pPr>
            <a:endParaRPr sz="2400" dirty="0">
              <a:latin typeface="Metropolis"/>
            </a:endParaRPr>
          </a:p>
          <a:p>
            <a:pPr marL="0" lvl="0" indent="0" algn="l" rtl="0">
              <a:lnSpc>
                <a:spcPct val="90000"/>
              </a:lnSpc>
              <a:spcBef>
                <a:spcPts val="1000"/>
              </a:spcBef>
              <a:spcAft>
                <a:spcPts val="0"/>
              </a:spcAft>
              <a:buClr>
                <a:schemeClr val="dk1"/>
              </a:buClr>
              <a:buSzPts val="2500"/>
              <a:buNone/>
            </a:pPr>
            <a:endParaRPr sz="2400" dirty="0">
              <a:latin typeface="Metropolis"/>
            </a:endParaRPr>
          </a:p>
          <a:p>
            <a:pPr marL="0" lvl="0" indent="0" algn="l" rtl="0">
              <a:lnSpc>
                <a:spcPct val="90000"/>
              </a:lnSpc>
              <a:spcBef>
                <a:spcPts val="1000"/>
              </a:spcBef>
              <a:spcAft>
                <a:spcPts val="0"/>
              </a:spcAft>
              <a:buClr>
                <a:schemeClr val="dk1"/>
              </a:buClr>
              <a:buSzPts val="2500"/>
              <a:buNone/>
            </a:pPr>
            <a:endParaRPr sz="2400" dirty="0">
              <a:latin typeface="Metropolis"/>
            </a:endParaRPr>
          </a:p>
          <a:p>
            <a:pPr marL="0" lvl="0" indent="0" algn="l" rtl="0">
              <a:lnSpc>
                <a:spcPct val="90000"/>
              </a:lnSpc>
              <a:spcBef>
                <a:spcPts val="1000"/>
              </a:spcBef>
              <a:spcAft>
                <a:spcPts val="0"/>
              </a:spcAft>
              <a:buClr>
                <a:schemeClr val="dk1"/>
              </a:buClr>
              <a:buSzPts val="2500"/>
              <a:buNone/>
            </a:pPr>
            <a:endParaRPr sz="2400" dirty="0">
              <a:latin typeface="Metropolis"/>
            </a:endParaRPr>
          </a:p>
        </p:txBody>
      </p:sp>
      <p:sp>
        <p:nvSpPr>
          <p:cNvPr id="136" name="Google Shape;136;p2"/>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cxnSp>
        <p:nvCxnSpPr>
          <p:cNvPr id="137" name="Google Shape;137;p2"/>
          <p:cNvCxnSpPr/>
          <p:nvPr/>
        </p:nvCxnSpPr>
        <p:spPr>
          <a:xfrm>
            <a:off x="838200" y="929390"/>
            <a:ext cx="3498011" cy="0"/>
          </a:xfrm>
          <a:prstGeom prst="straightConnector1">
            <a:avLst/>
          </a:prstGeom>
          <a:noFill/>
          <a:ln w="57150" cap="flat" cmpd="sng">
            <a:solidFill>
              <a:schemeClr val="dk2"/>
            </a:solidFill>
            <a:prstDash val="solid"/>
            <a:miter lim="800000"/>
            <a:headEnd type="none" w="sm" len="sm"/>
            <a:tailEnd type="none" w="sm" len="sm"/>
          </a:ln>
        </p:spPr>
      </p:cxnSp>
      <p:cxnSp>
        <p:nvCxnSpPr>
          <p:cNvPr id="138" name="Google Shape;138;p2"/>
          <p:cNvCxnSpPr/>
          <p:nvPr/>
        </p:nvCxnSpPr>
        <p:spPr>
          <a:xfrm>
            <a:off x="4336211" y="929390"/>
            <a:ext cx="2760262" cy="0"/>
          </a:xfrm>
          <a:prstGeom prst="straightConnector1">
            <a:avLst/>
          </a:prstGeom>
          <a:noFill/>
          <a:ln w="57150" cap="flat" cmpd="sng">
            <a:solidFill>
              <a:schemeClr val="lt2"/>
            </a:solidFill>
            <a:prstDash val="solid"/>
            <a:miter lim="800000"/>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203E-CE6D-BD24-B02B-7DFF9A4E3C7C}"/>
              </a:ext>
            </a:extLst>
          </p:cNvPr>
          <p:cNvSpPr>
            <a:spLocks noGrp="1"/>
          </p:cNvSpPr>
          <p:nvPr>
            <p:ph type="title"/>
          </p:nvPr>
        </p:nvSpPr>
        <p:spPr/>
        <p:txBody>
          <a:bodyPr>
            <a:normAutofit/>
          </a:bodyPr>
          <a:lstStyle/>
          <a:p>
            <a:r>
              <a:rPr lang="en-IN" sz="3600" dirty="0">
                <a:latin typeface="Metropolis"/>
              </a:rPr>
              <a:t>TCP Segment structure</a:t>
            </a:r>
            <a:endParaRPr lang="en-IN" sz="3600" dirty="0"/>
          </a:p>
        </p:txBody>
      </p:sp>
      <p:sp>
        <p:nvSpPr>
          <p:cNvPr id="4" name="Slide Number Placeholder 3">
            <a:extLst>
              <a:ext uri="{FF2B5EF4-FFF2-40B4-BE49-F238E27FC236}">
                <a16:creationId xmlns:a16="http://schemas.microsoft.com/office/drawing/2014/main" id="{38CF70F5-BA67-46BA-E947-2F055134C8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pic>
        <p:nvPicPr>
          <p:cNvPr id="5" name="Picture 2">
            <a:extLst>
              <a:ext uri="{FF2B5EF4-FFF2-40B4-BE49-F238E27FC236}">
                <a16:creationId xmlns:a16="http://schemas.microsoft.com/office/drawing/2014/main" id="{7EE4089F-061C-DE10-E152-B2AB8E372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130" y="1235075"/>
            <a:ext cx="6067425"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395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F4349-B2DE-0D47-DE55-83FDFF94F384}"/>
              </a:ext>
            </a:extLst>
          </p:cNvPr>
          <p:cNvSpPr>
            <a:spLocks noGrp="1"/>
          </p:cNvSpPr>
          <p:nvPr>
            <p:ph type="title"/>
          </p:nvPr>
        </p:nvSpPr>
        <p:spPr>
          <a:xfrm>
            <a:off x="838200" y="39525"/>
            <a:ext cx="10515600" cy="1325563"/>
          </a:xfrm>
        </p:spPr>
        <p:txBody>
          <a:bodyPr>
            <a:normAutofit/>
          </a:bodyPr>
          <a:lstStyle/>
          <a:p>
            <a:r>
              <a:rPr lang="en-IN" sz="3600" dirty="0">
                <a:latin typeface="Metropolis"/>
              </a:rPr>
              <a:t>The TCP Segment Header</a:t>
            </a:r>
            <a:endParaRPr lang="en-IN" sz="3600" dirty="0"/>
          </a:p>
        </p:txBody>
      </p:sp>
      <p:sp>
        <p:nvSpPr>
          <p:cNvPr id="4" name="Slide Number Placeholder 3">
            <a:extLst>
              <a:ext uri="{FF2B5EF4-FFF2-40B4-BE49-F238E27FC236}">
                <a16:creationId xmlns:a16="http://schemas.microsoft.com/office/drawing/2014/main" id="{981315FB-3651-398D-827F-DEDF970EA3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5" name="Picture 2" descr="6-29">
            <a:extLst>
              <a:ext uri="{FF2B5EF4-FFF2-40B4-BE49-F238E27FC236}">
                <a16:creationId xmlns:a16="http://schemas.microsoft.com/office/drawing/2014/main" id="{2AB9C7F0-2C0B-F620-EA38-941A9D478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972" y="1027906"/>
            <a:ext cx="8332291"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0EC9B-2242-B88B-D846-F0D86BB58181}"/>
              </a:ext>
            </a:extLst>
          </p:cNvPr>
          <p:cNvSpPr>
            <a:spLocks noGrp="1"/>
          </p:cNvSpPr>
          <p:nvPr>
            <p:ph type="title"/>
          </p:nvPr>
        </p:nvSpPr>
        <p:spPr/>
        <p:txBody>
          <a:bodyPr>
            <a:normAutofit/>
          </a:bodyPr>
          <a:lstStyle/>
          <a:p>
            <a:r>
              <a:rPr lang="en-IN" sz="3600" dirty="0">
                <a:latin typeface="Metropolis"/>
              </a:rPr>
              <a:t>Header Fields</a:t>
            </a:r>
            <a:endParaRPr lang="en-IN" sz="3600" dirty="0"/>
          </a:p>
        </p:txBody>
      </p:sp>
      <p:sp>
        <p:nvSpPr>
          <p:cNvPr id="4" name="Slide Number Placeholder 3">
            <a:extLst>
              <a:ext uri="{FF2B5EF4-FFF2-40B4-BE49-F238E27FC236}">
                <a16:creationId xmlns:a16="http://schemas.microsoft.com/office/drawing/2014/main" id="{B7B05CEB-540C-675C-9D46-729456ABBA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5" name="Text Placeholder 2">
            <a:extLst>
              <a:ext uri="{FF2B5EF4-FFF2-40B4-BE49-F238E27FC236}">
                <a16:creationId xmlns:a16="http://schemas.microsoft.com/office/drawing/2014/main" id="{D1F890AE-315C-4EAD-5B48-87FE768311CA}"/>
              </a:ext>
            </a:extLst>
          </p:cNvPr>
          <p:cNvSpPr>
            <a:spLocks noGrp="1"/>
          </p:cNvSpPr>
          <p:nvPr>
            <p:ph type="body" idx="1"/>
          </p:nvPr>
        </p:nvSpPr>
        <p:spPr>
          <a:xfrm>
            <a:off x="838200" y="1553134"/>
            <a:ext cx="10515600" cy="4351338"/>
          </a:xfrm>
        </p:spPr>
        <p:txBody>
          <a:bodyPr>
            <a:noAutofit/>
          </a:bodyPr>
          <a:lstStyle/>
          <a:p>
            <a:pPr marL="114300" indent="0" fontAlgn="base">
              <a:buNone/>
            </a:pPr>
            <a:r>
              <a:rPr lang="en-US" sz="2200" dirty="0">
                <a:latin typeface="Metropolis"/>
              </a:rPr>
              <a:t>The header of a TCP segment can range from 20-60 bytes. 40 bytes are for options. If there are no options, header is of 20 bytes else it can be of upmost 60 bytes.</a:t>
            </a:r>
          </a:p>
          <a:p>
            <a:pPr fontAlgn="base"/>
            <a:r>
              <a:rPr lang="en-US" sz="2200" b="1" dirty="0">
                <a:latin typeface="Metropolis"/>
              </a:rPr>
              <a:t>Source Port Address </a:t>
            </a:r>
          </a:p>
          <a:p>
            <a:r>
              <a:rPr lang="en-US" sz="2200" dirty="0">
                <a:latin typeface="Metropolis"/>
              </a:rPr>
              <a:t>16 bit field that holds the port address of the application that is sending the data segment.</a:t>
            </a:r>
          </a:p>
          <a:p>
            <a:pPr fontAlgn="base"/>
            <a:r>
              <a:rPr lang="en-US" sz="2200" b="1" dirty="0">
                <a:latin typeface="Metropolis"/>
              </a:rPr>
              <a:t>Destination Port Address </a:t>
            </a:r>
          </a:p>
          <a:p>
            <a:r>
              <a:rPr lang="en-US" sz="2200" dirty="0">
                <a:latin typeface="Metropolis"/>
              </a:rPr>
              <a:t>16 bit field that holds the port address of the application in the host that is receiving the data segment.</a:t>
            </a:r>
          </a:p>
          <a:p>
            <a:pPr marL="114300" indent="0">
              <a:buNone/>
            </a:pPr>
            <a:br>
              <a:rPr lang="en-US" sz="2200" dirty="0">
                <a:latin typeface="Metropolis"/>
              </a:rPr>
            </a:br>
            <a:endParaRPr lang="en-IN" sz="2200" dirty="0">
              <a:latin typeface="Metropolis"/>
            </a:endParaRPr>
          </a:p>
        </p:txBody>
      </p:sp>
    </p:spTree>
    <p:extLst>
      <p:ext uri="{BB962C8B-B14F-4D97-AF65-F5344CB8AC3E}">
        <p14:creationId xmlns:p14="http://schemas.microsoft.com/office/powerpoint/2010/main" val="374594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8452F6-F6AF-2B3C-0400-667B1B3B50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Text Placeholder 2">
            <a:extLst>
              <a:ext uri="{FF2B5EF4-FFF2-40B4-BE49-F238E27FC236}">
                <a16:creationId xmlns:a16="http://schemas.microsoft.com/office/drawing/2014/main" id="{0807138F-E4D8-EAF8-1AD7-242ADF2C809F}"/>
              </a:ext>
            </a:extLst>
          </p:cNvPr>
          <p:cNvSpPr>
            <a:spLocks noGrp="1"/>
          </p:cNvSpPr>
          <p:nvPr>
            <p:ph type="body" idx="1"/>
          </p:nvPr>
        </p:nvSpPr>
        <p:spPr>
          <a:xfrm>
            <a:off x="838200" y="1390910"/>
            <a:ext cx="10515600" cy="4351338"/>
          </a:xfrm>
        </p:spPr>
        <p:txBody>
          <a:bodyPr>
            <a:noAutofit/>
          </a:bodyPr>
          <a:lstStyle/>
          <a:p>
            <a:pPr fontAlgn="base"/>
            <a:r>
              <a:rPr lang="en-US" sz="2200" b="1" dirty="0">
                <a:latin typeface="Metropolis"/>
              </a:rPr>
              <a:t>Sequence Number</a:t>
            </a:r>
          </a:p>
          <a:p>
            <a:r>
              <a:rPr lang="en-US" sz="2200" dirty="0">
                <a:latin typeface="Metropolis"/>
              </a:rPr>
              <a:t>32 bit field that holds the sequence number, </a:t>
            </a:r>
            <a:r>
              <a:rPr lang="en-US" sz="2200" dirty="0" err="1">
                <a:latin typeface="Metropolis"/>
              </a:rPr>
              <a:t>i.e</a:t>
            </a:r>
            <a:r>
              <a:rPr lang="en-US" sz="2200" dirty="0">
                <a:latin typeface="Metropolis"/>
              </a:rPr>
              <a:t>, the byte number of the first byte that is sent in that particular segment. It is used to reassemble the message at the receiving end if the segments are received out of order.</a:t>
            </a:r>
          </a:p>
          <a:p>
            <a:pPr fontAlgn="base"/>
            <a:r>
              <a:rPr lang="en-US" sz="2200" b="1" dirty="0">
                <a:latin typeface="Metropolis"/>
              </a:rPr>
              <a:t>Acknowledgement Number </a:t>
            </a:r>
          </a:p>
          <a:p>
            <a:r>
              <a:rPr lang="en-US" sz="2200" dirty="0">
                <a:latin typeface="Metropolis"/>
              </a:rPr>
              <a:t>32 bit field that holds the acknowledgement number, </a:t>
            </a:r>
            <a:r>
              <a:rPr lang="en-US" sz="2200" dirty="0" err="1">
                <a:latin typeface="Metropolis"/>
              </a:rPr>
              <a:t>i.e</a:t>
            </a:r>
            <a:r>
              <a:rPr lang="en-US" sz="2200" dirty="0">
                <a:latin typeface="Metropolis"/>
              </a:rPr>
              <a:t>, the byte number that the receiver expects to receive next. It is an acknowledgment for the previous bytes being received successfully.</a:t>
            </a:r>
          </a:p>
          <a:p>
            <a:pPr marL="114300" indent="0">
              <a:buNone/>
            </a:pPr>
            <a:br>
              <a:rPr lang="en-US" sz="2200" dirty="0">
                <a:latin typeface="Metropolis"/>
              </a:rPr>
            </a:br>
            <a:endParaRPr lang="en-IN" sz="2200" dirty="0">
              <a:latin typeface="Metropolis"/>
            </a:endParaRPr>
          </a:p>
        </p:txBody>
      </p:sp>
      <p:sp>
        <p:nvSpPr>
          <p:cNvPr id="6" name="Title 1">
            <a:extLst>
              <a:ext uri="{FF2B5EF4-FFF2-40B4-BE49-F238E27FC236}">
                <a16:creationId xmlns:a16="http://schemas.microsoft.com/office/drawing/2014/main" id="{95832408-3BB8-AE9B-13E2-DCDF3EB3899A}"/>
              </a:ext>
            </a:extLst>
          </p:cNvPr>
          <p:cNvSpPr>
            <a:spLocks noGrp="1"/>
          </p:cNvSpPr>
          <p:nvPr>
            <p:ph type="title"/>
          </p:nvPr>
        </p:nvSpPr>
        <p:spPr>
          <a:xfrm>
            <a:off x="838200" y="365125"/>
            <a:ext cx="10515600" cy="1325563"/>
          </a:xfrm>
        </p:spPr>
        <p:txBody>
          <a:bodyPr>
            <a:normAutofit/>
          </a:bodyPr>
          <a:lstStyle/>
          <a:p>
            <a:r>
              <a:rPr lang="en-IN" sz="3600" dirty="0">
                <a:latin typeface="Metropolis"/>
              </a:rPr>
              <a:t>Header Fields</a:t>
            </a:r>
            <a:endParaRPr lang="en-IN" sz="3600" dirty="0"/>
          </a:p>
        </p:txBody>
      </p:sp>
    </p:spTree>
    <p:extLst>
      <p:ext uri="{BB962C8B-B14F-4D97-AF65-F5344CB8AC3E}">
        <p14:creationId xmlns:p14="http://schemas.microsoft.com/office/powerpoint/2010/main" val="185172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93C287-4FBE-67D7-3991-5B6B86B821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Text Placeholder 2">
            <a:extLst>
              <a:ext uri="{FF2B5EF4-FFF2-40B4-BE49-F238E27FC236}">
                <a16:creationId xmlns:a16="http://schemas.microsoft.com/office/drawing/2014/main" id="{62C990BD-EDEF-0204-6D43-748D1768A779}"/>
              </a:ext>
            </a:extLst>
          </p:cNvPr>
          <p:cNvSpPr>
            <a:spLocks noGrp="1"/>
          </p:cNvSpPr>
          <p:nvPr>
            <p:ph type="body" idx="1"/>
          </p:nvPr>
        </p:nvSpPr>
        <p:spPr>
          <a:xfrm>
            <a:off x="838200" y="1825625"/>
            <a:ext cx="10515600" cy="4351338"/>
          </a:xfrm>
        </p:spPr>
        <p:txBody>
          <a:bodyPr>
            <a:normAutofit/>
          </a:bodyPr>
          <a:lstStyle/>
          <a:p>
            <a:pPr fontAlgn="base"/>
            <a:r>
              <a:rPr lang="en-US" sz="2400" b="1" dirty="0">
                <a:latin typeface="Metropolis"/>
              </a:rPr>
              <a:t>Header Length (HLEN) – it uses scale of 4</a:t>
            </a:r>
          </a:p>
          <a:p>
            <a:r>
              <a:rPr lang="en-US" sz="2400" dirty="0">
                <a:latin typeface="Metropolis"/>
              </a:rPr>
              <a:t>This is a 4 bit field that indicates the length of the TCP header by number of 4-byte words in the header, </a:t>
            </a:r>
            <a:r>
              <a:rPr lang="en-US" sz="2400" dirty="0" err="1">
                <a:latin typeface="Metropolis"/>
              </a:rPr>
              <a:t>i.e</a:t>
            </a:r>
            <a:r>
              <a:rPr lang="en-US" sz="2400" dirty="0">
                <a:latin typeface="Metropolis"/>
              </a:rPr>
              <a:t>, if the header is of 20 bytes(min length of TCP header), then this field will hold 5 (because 5 x 4 = 20) and the maximum length: 60 bytes, then it’ll hold the value 15(because 15 x 4 = 60). Hence, the value of this field is always between 5 and 15.</a:t>
            </a:r>
          </a:p>
          <a:p>
            <a:pPr marL="114300" indent="0">
              <a:buNone/>
            </a:pPr>
            <a:endParaRPr lang="en-IN" sz="2400" dirty="0">
              <a:latin typeface="Metropolis"/>
            </a:endParaRPr>
          </a:p>
        </p:txBody>
      </p:sp>
      <p:sp>
        <p:nvSpPr>
          <p:cNvPr id="6" name="Title 1">
            <a:extLst>
              <a:ext uri="{FF2B5EF4-FFF2-40B4-BE49-F238E27FC236}">
                <a16:creationId xmlns:a16="http://schemas.microsoft.com/office/drawing/2014/main" id="{DAAFE936-CFFC-CEFF-CBA3-8C73B3077406}"/>
              </a:ext>
            </a:extLst>
          </p:cNvPr>
          <p:cNvSpPr>
            <a:spLocks noGrp="1"/>
          </p:cNvSpPr>
          <p:nvPr>
            <p:ph type="title"/>
          </p:nvPr>
        </p:nvSpPr>
        <p:spPr>
          <a:xfrm>
            <a:off x="838200" y="365125"/>
            <a:ext cx="10515600" cy="1325563"/>
          </a:xfrm>
        </p:spPr>
        <p:txBody>
          <a:bodyPr>
            <a:normAutofit/>
          </a:bodyPr>
          <a:lstStyle/>
          <a:p>
            <a:r>
              <a:rPr lang="en-IN" sz="3600" dirty="0">
                <a:latin typeface="Metropolis"/>
              </a:rPr>
              <a:t>Header Fields</a:t>
            </a:r>
            <a:endParaRPr lang="en-IN" sz="3600" dirty="0"/>
          </a:p>
        </p:txBody>
      </p:sp>
    </p:spTree>
    <p:extLst>
      <p:ext uri="{BB962C8B-B14F-4D97-AF65-F5344CB8AC3E}">
        <p14:creationId xmlns:p14="http://schemas.microsoft.com/office/powerpoint/2010/main" val="2547216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83DD7B-B9AE-5052-D825-8A660B8A2D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Text Placeholder 2">
            <a:extLst>
              <a:ext uri="{FF2B5EF4-FFF2-40B4-BE49-F238E27FC236}">
                <a16:creationId xmlns:a16="http://schemas.microsoft.com/office/drawing/2014/main" id="{0B2CF900-7F25-6581-67CA-690E8DBB3094}"/>
              </a:ext>
            </a:extLst>
          </p:cNvPr>
          <p:cNvSpPr>
            <a:spLocks noGrp="1"/>
          </p:cNvSpPr>
          <p:nvPr>
            <p:ph type="body" idx="1"/>
          </p:nvPr>
        </p:nvSpPr>
        <p:spPr>
          <a:xfrm>
            <a:off x="838200" y="1690688"/>
            <a:ext cx="10515600" cy="4351338"/>
          </a:xfrm>
        </p:spPr>
        <p:txBody>
          <a:bodyPr>
            <a:normAutofit fontScale="92500" lnSpcReduction="20000"/>
          </a:bodyPr>
          <a:lstStyle/>
          <a:p>
            <a:pPr fontAlgn="base"/>
            <a:r>
              <a:rPr lang="en-US" b="1" dirty="0">
                <a:latin typeface="Metropolis"/>
              </a:rPr>
              <a:t>Control flags </a:t>
            </a:r>
          </a:p>
          <a:p>
            <a:r>
              <a:rPr lang="en-US" dirty="0">
                <a:latin typeface="Metropolis"/>
              </a:rPr>
              <a:t>These are 6 1-bit control bits that control connection establishment, connection termination, connection abortion, flow control, mode of transfer etc. Their function is: </a:t>
            </a:r>
          </a:p>
          <a:p>
            <a:pPr fontAlgn="base"/>
            <a:r>
              <a:rPr lang="en-US" dirty="0">
                <a:latin typeface="Metropolis"/>
              </a:rPr>
              <a:t> URG: Urgent pointer is valid</a:t>
            </a:r>
          </a:p>
          <a:p>
            <a:pPr fontAlgn="base"/>
            <a:r>
              <a:rPr lang="en-US" dirty="0">
                <a:latin typeface="Metropolis"/>
              </a:rPr>
              <a:t>ACK: Acknowledgement number is valid( used in case of cumulative acknowledgement)</a:t>
            </a:r>
          </a:p>
          <a:p>
            <a:pPr fontAlgn="base"/>
            <a:r>
              <a:rPr lang="en-US" dirty="0">
                <a:latin typeface="Metropolis"/>
              </a:rPr>
              <a:t>PSH: Request for push</a:t>
            </a:r>
          </a:p>
          <a:p>
            <a:pPr fontAlgn="base"/>
            <a:r>
              <a:rPr lang="en-US" dirty="0">
                <a:latin typeface="Metropolis"/>
              </a:rPr>
              <a:t>RST: Reset the connection</a:t>
            </a:r>
          </a:p>
          <a:p>
            <a:pPr fontAlgn="base"/>
            <a:r>
              <a:rPr lang="en-US" dirty="0">
                <a:latin typeface="Metropolis"/>
              </a:rPr>
              <a:t>SYN: Synchronize sequence numbers</a:t>
            </a:r>
          </a:p>
          <a:p>
            <a:pPr fontAlgn="base"/>
            <a:r>
              <a:rPr lang="en-US" dirty="0">
                <a:latin typeface="Metropolis"/>
              </a:rPr>
              <a:t>FIN: Terminate the connection</a:t>
            </a:r>
          </a:p>
          <a:p>
            <a:pPr marL="114300" indent="0">
              <a:buNone/>
            </a:pPr>
            <a:endParaRPr lang="en-IN" dirty="0">
              <a:latin typeface="Metropolis"/>
            </a:endParaRPr>
          </a:p>
        </p:txBody>
      </p:sp>
      <p:sp>
        <p:nvSpPr>
          <p:cNvPr id="6" name="Title 1">
            <a:extLst>
              <a:ext uri="{FF2B5EF4-FFF2-40B4-BE49-F238E27FC236}">
                <a16:creationId xmlns:a16="http://schemas.microsoft.com/office/drawing/2014/main" id="{C79DE72C-A554-D8B5-3C7D-88AA3EDAA0F8}"/>
              </a:ext>
            </a:extLst>
          </p:cNvPr>
          <p:cNvSpPr>
            <a:spLocks noGrp="1"/>
          </p:cNvSpPr>
          <p:nvPr>
            <p:ph type="title"/>
          </p:nvPr>
        </p:nvSpPr>
        <p:spPr>
          <a:xfrm>
            <a:off x="838200" y="365125"/>
            <a:ext cx="10515600" cy="1325563"/>
          </a:xfrm>
        </p:spPr>
        <p:txBody>
          <a:bodyPr>
            <a:normAutofit/>
          </a:bodyPr>
          <a:lstStyle/>
          <a:p>
            <a:r>
              <a:rPr lang="en-IN" sz="3600" dirty="0">
                <a:latin typeface="Metropolis"/>
              </a:rPr>
              <a:t>Header Fields</a:t>
            </a:r>
            <a:endParaRPr lang="en-IN" sz="3600" dirty="0"/>
          </a:p>
        </p:txBody>
      </p:sp>
    </p:spTree>
    <p:extLst>
      <p:ext uri="{BB962C8B-B14F-4D97-AF65-F5344CB8AC3E}">
        <p14:creationId xmlns:p14="http://schemas.microsoft.com/office/powerpoint/2010/main" val="1416147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9B520A-91F5-812D-23EA-7B0AF6E985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Text Placeholder 2">
            <a:extLst>
              <a:ext uri="{FF2B5EF4-FFF2-40B4-BE49-F238E27FC236}">
                <a16:creationId xmlns:a16="http://schemas.microsoft.com/office/drawing/2014/main" id="{6FFB66D2-20CE-79C8-4CB2-6AC4F4FB764A}"/>
              </a:ext>
            </a:extLst>
          </p:cNvPr>
          <p:cNvSpPr>
            <a:spLocks noGrp="1"/>
          </p:cNvSpPr>
          <p:nvPr>
            <p:ph type="body" idx="1"/>
          </p:nvPr>
        </p:nvSpPr>
        <p:spPr>
          <a:xfrm>
            <a:off x="733269" y="1690688"/>
            <a:ext cx="10515600" cy="4351338"/>
          </a:xfrm>
        </p:spPr>
        <p:txBody>
          <a:bodyPr>
            <a:noAutofit/>
          </a:bodyPr>
          <a:lstStyle/>
          <a:p>
            <a:pPr fontAlgn="base"/>
            <a:r>
              <a:rPr lang="en-US" sz="2200" b="1" dirty="0">
                <a:latin typeface="Metropolis"/>
              </a:rPr>
              <a:t>Window size </a:t>
            </a:r>
          </a:p>
          <a:p>
            <a:r>
              <a:rPr lang="en-US" sz="2200" dirty="0">
                <a:latin typeface="Metropolis"/>
              </a:rPr>
              <a:t>This field tells the window size of the sending TCP in bytes.</a:t>
            </a:r>
          </a:p>
          <a:p>
            <a:pPr fontAlgn="base"/>
            <a:r>
              <a:rPr lang="en-US" sz="2200" b="1" dirty="0">
                <a:latin typeface="Metropolis"/>
              </a:rPr>
              <a:t>Checksum </a:t>
            </a:r>
          </a:p>
          <a:p>
            <a:r>
              <a:rPr lang="en-US" sz="2200" dirty="0">
                <a:latin typeface="Metropolis"/>
              </a:rPr>
              <a:t>This field holds the checksum for error control. It is mandatory in TCP as opposed to UDP. (for extra reliability)</a:t>
            </a:r>
          </a:p>
          <a:p>
            <a:pPr fontAlgn="base"/>
            <a:r>
              <a:rPr lang="en-US" sz="2200" b="1" dirty="0">
                <a:latin typeface="Metropolis"/>
              </a:rPr>
              <a:t>Urgent pointer </a:t>
            </a:r>
          </a:p>
          <a:p>
            <a:r>
              <a:rPr lang="en-US" sz="2200" dirty="0">
                <a:latin typeface="Metropolis"/>
              </a:rPr>
              <a:t>This field (valid only if the URG control flag is set) is used to point to data that is urgently required that needs to reach the receiving process at the earliest. The value of this field is added to the sequence number to get the byte number of the last urgent byte.</a:t>
            </a:r>
          </a:p>
          <a:p>
            <a:pPr marL="114300" indent="0">
              <a:buNone/>
            </a:pPr>
            <a:br>
              <a:rPr lang="en-US" sz="2200" dirty="0">
                <a:latin typeface="Metropolis"/>
              </a:rPr>
            </a:br>
            <a:endParaRPr lang="en-IN" sz="2200" dirty="0">
              <a:latin typeface="Metropolis"/>
            </a:endParaRPr>
          </a:p>
        </p:txBody>
      </p:sp>
      <p:sp>
        <p:nvSpPr>
          <p:cNvPr id="6" name="Title 1">
            <a:extLst>
              <a:ext uri="{FF2B5EF4-FFF2-40B4-BE49-F238E27FC236}">
                <a16:creationId xmlns:a16="http://schemas.microsoft.com/office/drawing/2014/main" id="{244B4CDF-C694-96B5-DBB5-825D4E3F4DA5}"/>
              </a:ext>
            </a:extLst>
          </p:cNvPr>
          <p:cNvSpPr>
            <a:spLocks noGrp="1"/>
          </p:cNvSpPr>
          <p:nvPr>
            <p:ph type="title"/>
          </p:nvPr>
        </p:nvSpPr>
        <p:spPr>
          <a:xfrm>
            <a:off x="838200" y="365125"/>
            <a:ext cx="10515600" cy="1325563"/>
          </a:xfrm>
        </p:spPr>
        <p:txBody>
          <a:bodyPr>
            <a:normAutofit/>
          </a:bodyPr>
          <a:lstStyle/>
          <a:p>
            <a:r>
              <a:rPr lang="en-IN" sz="3600" dirty="0">
                <a:latin typeface="Metropolis"/>
              </a:rPr>
              <a:t>Header Fields</a:t>
            </a:r>
            <a:endParaRPr lang="en-IN" sz="3600" dirty="0"/>
          </a:p>
        </p:txBody>
      </p:sp>
    </p:spTree>
    <p:extLst>
      <p:ext uri="{BB962C8B-B14F-4D97-AF65-F5344CB8AC3E}">
        <p14:creationId xmlns:p14="http://schemas.microsoft.com/office/powerpoint/2010/main" val="889387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DC4BB1-D9FE-342C-BF2D-E6AB150678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Title 1">
            <a:extLst>
              <a:ext uri="{FF2B5EF4-FFF2-40B4-BE49-F238E27FC236}">
                <a16:creationId xmlns:a16="http://schemas.microsoft.com/office/drawing/2014/main" id="{A22B87A4-7CEC-F6CB-8040-B69DB0A6591E}"/>
              </a:ext>
            </a:extLst>
          </p:cNvPr>
          <p:cNvSpPr>
            <a:spLocks noGrp="1"/>
          </p:cNvSpPr>
          <p:nvPr>
            <p:ph type="title"/>
          </p:nvPr>
        </p:nvSpPr>
        <p:spPr>
          <a:xfrm>
            <a:off x="838200" y="365125"/>
            <a:ext cx="10515600" cy="1325563"/>
          </a:xfrm>
        </p:spPr>
        <p:txBody>
          <a:bodyPr>
            <a:noAutofit/>
          </a:bodyPr>
          <a:lstStyle/>
          <a:p>
            <a:r>
              <a:rPr lang="en-IN" sz="3600" dirty="0">
                <a:latin typeface="Metropolis"/>
              </a:rPr>
              <a:t>TCP timer management</a:t>
            </a:r>
            <a:br>
              <a:rPr lang="en-IN" sz="3600" dirty="0">
                <a:latin typeface="Metropolis"/>
              </a:rPr>
            </a:br>
            <a:br>
              <a:rPr lang="en-IN" sz="3600" dirty="0">
                <a:latin typeface="Metropolis"/>
              </a:rPr>
            </a:br>
            <a:endParaRPr lang="en-IN" sz="3600" dirty="0">
              <a:latin typeface="Metropolis"/>
            </a:endParaRPr>
          </a:p>
        </p:txBody>
      </p:sp>
      <p:sp>
        <p:nvSpPr>
          <p:cNvPr id="6" name="Text Placeholder 2">
            <a:extLst>
              <a:ext uri="{FF2B5EF4-FFF2-40B4-BE49-F238E27FC236}">
                <a16:creationId xmlns:a16="http://schemas.microsoft.com/office/drawing/2014/main" id="{78B8E7B5-9EAC-6F91-8ED8-DB3A01494C61}"/>
              </a:ext>
            </a:extLst>
          </p:cNvPr>
          <p:cNvSpPr>
            <a:spLocks noGrp="1"/>
          </p:cNvSpPr>
          <p:nvPr>
            <p:ph type="body" idx="1"/>
          </p:nvPr>
        </p:nvSpPr>
        <p:spPr>
          <a:xfrm>
            <a:off x="838200" y="1525822"/>
            <a:ext cx="10515600" cy="4351338"/>
          </a:xfrm>
        </p:spPr>
        <p:txBody>
          <a:bodyPr>
            <a:normAutofit/>
          </a:bodyPr>
          <a:lstStyle/>
          <a:p>
            <a:pPr marL="114300" indent="0">
              <a:buNone/>
            </a:pPr>
            <a:r>
              <a:rPr lang="en-US" sz="2400" dirty="0">
                <a:latin typeface="Metropolis"/>
              </a:rPr>
              <a:t>Timers used by TCP to avoid excessive delays during communication are called as TCP Timers.</a:t>
            </a:r>
          </a:p>
          <a:p>
            <a:pPr marL="114300" indent="0">
              <a:buNone/>
            </a:pPr>
            <a:r>
              <a:rPr lang="en-US" sz="2400" dirty="0">
                <a:latin typeface="Metropolis"/>
              </a:rPr>
              <a:t>Types</a:t>
            </a:r>
          </a:p>
          <a:p>
            <a:pPr fontAlgn="base"/>
            <a:r>
              <a:rPr lang="en-US" sz="2400" dirty="0">
                <a:latin typeface="Metropolis"/>
              </a:rPr>
              <a:t>Time Out Timer</a:t>
            </a:r>
          </a:p>
          <a:p>
            <a:pPr fontAlgn="base"/>
            <a:r>
              <a:rPr lang="en-US" sz="2400" dirty="0">
                <a:latin typeface="Metropolis"/>
              </a:rPr>
              <a:t>Time Wait Timer</a:t>
            </a:r>
          </a:p>
          <a:p>
            <a:pPr fontAlgn="base"/>
            <a:r>
              <a:rPr lang="en-US" sz="2400" dirty="0">
                <a:latin typeface="Metropolis"/>
              </a:rPr>
              <a:t>Keep Alive Timer</a:t>
            </a:r>
          </a:p>
          <a:p>
            <a:pPr fontAlgn="base"/>
            <a:r>
              <a:rPr lang="en-US" sz="2400" dirty="0">
                <a:latin typeface="Metropolis"/>
              </a:rPr>
              <a:t>Persistent Timer</a:t>
            </a:r>
          </a:p>
          <a:p>
            <a:pPr marL="114300" indent="0">
              <a:buNone/>
            </a:pPr>
            <a:endParaRPr lang="en-IN" sz="2400" dirty="0">
              <a:latin typeface="Metropolis"/>
            </a:endParaRPr>
          </a:p>
        </p:txBody>
      </p:sp>
    </p:spTree>
    <p:extLst>
      <p:ext uri="{BB962C8B-B14F-4D97-AF65-F5344CB8AC3E}">
        <p14:creationId xmlns:p14="http://schemas.microsoft.com/office/powerpoint/2010/main" val="8635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E98B0E-16F4-8718-3580-6E7C6E7B62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5" name="Picture 2">
            <a:extLst>
              <a:ext uri="{FF2B5EF4-FFF2-40B4-BE49-F238E27FC236}">
                <a16:creationId xmlns:a16="http://schemas.microsoft.com/office/drawing/2014/main" id="{59B28D5E-3635-A18E-3290-5052812CC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214" y="1217092"/>
            <a:ext cx="5804238" cy="411459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C2839814-7872-D822-254C-7CFC31A3171A}"/>
              </a:ext>
            </a:extLst>
          </p:cNvPr>
          <p:cNvSpPr>
            <a:spLocks noGrp="1"/>
          </p:cNvSpPr>
          <p:nvPr>
            <p:ph type="title"/>
          </p:nvPr>
        </p:nvSpPr>
        <p:spPr>
          <a:xfrm>
            <a:off x="838200" y="365125"/>
            <a:ext cx="10515600" cy="1325563"/>
          </a:xfrm>
        </p:spPr>
        <p:txBody>
          <a:bodyPr>
            <a:noAutofit/>
          </a:bodyPr>
          <a:lstStyle/>
          <a:p>
            <a:r>
              <a:rPr lang="en-IN" sz="3600" dirty="0">
                <a:latin typeface="Metropolis"/>
              </a:rPr>
              <a:t>TCP timer management</a:t>
            </a:r>
            <a:br>
              <a:rPr lang="en-IN" sz="3600" dirty="0">
                <a:latin typeface="Metropolis"/>
              </a:rPr>
            </a:br>
            <a:br>
              <a:rPr lang="en-IN" sz="3600" dirty="0">
                <a:latin typeface="Metropolis"/>
              </a:rPr>
            </a:br>
            <a:endParaRPr lang="en-IN" sz="3600" dirty="0">
              <a:latin typeface="Metropolis"/>
            </a:endParaRPr>
          </a:p>
        </p:txBody>
      </p:sp>
    </p:spTree>
    <p:extLst>
      <p:ext uri="{BB962C8B-B14F-4D97-AF65-F5344CB8AC3E}">
        <p14:creationId xmlns:p14="http://schemas.microsoft.com/office/powerpoint/2010/main" val="3146476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A8E09F-2474-718E-1DF1-63A7FBB96D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8" name="Title 1">
            <a:extLst>
              <a:ext uri="{FF2B5EF4-FFF2-40B4-BE49-F238E27FC236}">
                <a16:creationId xmlns:a16="http://schemas.microsoft.com/office/drawing/2014/main" id="{2291BB32-43D1-963B-4452-1E83AB4FFF36}"/>
              </a:ext>
            </a:extLst>
          </p:cNvPr>
          <p:cNvSpPr>
            <a:spLocks noGrp="1"/>
          </p:cNvSpPr>
          <p:nvPr>
            <p:ph type="title"/>
          </p:nvPr>
        </p:nvSpPr>
        <p:spPr>
          <a:xfrm>
            <a:off x="838200" y="365125"/>
            <a:ext cx="10515600" cy="1325563"/>
          </a:xfrm>
        </p:spPr>
        <p:txBody>
          <a:bodyPr>
            <a:normAutofit/>
          </a:bodyPr>
          <a:lstStyle/>
          <a:p>
            <a:r>
              <a:rPr lang="en-IN" sz="3600" dirty="0">
                <a:latin typeface="Metropolis"/>
              </a:rPr>
              <a:t>Time Out Timer</a:t>
            </a:r>
            <a:br>
              <a:rPr lang="en-IN" sz="3600" dirty="0">
                <a:latin typeface="Metropolis"/>
              </a:rPr>
            </a:br>
            <a:endParaRPr lang="en-IN" sz="3600" dirty="0">
              <a:latin typeface="Metropolis"/>
            </a:endParaRPr>
          </a:p>
        </p:txBody>
      </p:sp>
      <p:sp>
        <p:nvSpPr>
          <p:cNvPr id="9" name="Text Placeholder 2">
            <a:extLst>
              <a:ext uri="{FF2B5EF4-FFF2-40B4-BE49-F238E27FC236}">
                <a16:creationId xmlns:a16="http://schemas.microsoft.com/office/drawing/2014/main" id="{52E1CFB6-81D2-577C-D558-7E9FFDA755BB}"/>
              </a:ext>
            </a:extLst>
          </p:cNvPr>
          <p:cNvSpPr>
            <a:spLocks noGrp="1"/>
          </p:cNvSpPr>
          <p:nvPr>
            <p:ph type="body" idx="1"/>
          </p:nvPr>
        </p:nvSpPr>
        <p:spPr>
          <a:xfrm>
            <a:off x="838200" y="1450871"/>
            <a:ext cx="10515600" cy="4351338"/>
          </a:xfrm>
        </p:spPr>
        <p:txBody>
          <a:bodyPr>
            <a:normAutofit/>
          </a:bodyPr>
          <a:lstStyle/>
          <a:p>
            <a:r>
              <a:rPr lang="en-US" sz="2200" b="1" dirty="0">
                <a:latin typeface="Metropolis"/>
              </a:rPr>
              <a:t>TCP uses a time out timer for retransmission of lost segments</a:t>
            </a:r>
            <a:endParaRPr lang="en-US" sz="2200" dirty="0">
              <a:latin typeface="Metropolis"/>
            </a:endParaRPr>
          </a:p>
          <a:p>
            <a:pPr fontAlgn="base"/>
            <a:r>
              <a:rPr lang="en-US" sz="2200" dirty="0">
                <a:latin typeface="Metropolis"/>
              </a:rPr>
              <a:t>Sender starts a time out timer after transmitting a TCP segment to the receiver.</a:t>
            </a:r>
          </a:p>
          <a:p>
            <a:pPr fontAlgn="base"/>
            <a:r>
              <a:rPr lang="en-US" sz="2200" dirty="0">
                <a:latin typeface="Metropolis"/>
              </a:rPr>
              <a:t>If sender receives an acknowledgement before the timer goes off, it stops the timer.</a:t>
            </a:r>
          </a:p>
          <a:p>
            <a:pPr fontAlgn="base"/>
            <a:r>
              <a:rPr lang="en-US" sz="2200" dirty="0">
                <a:latin typeface="Metropolis"/>
              </a:rPr>
              <a:t>If sender does not receives any acknowledgement and the timer goes off, then </a:t>
            </a:r>
            <a:r>
              <a:rPr lang="en-US" sz="2200" b="1" dirty="0">
                <a:latin typeface="Metropolis"/>
              </a:rPr>
              <a:t>TCP</a:t>
            </a:r>
            <a:r>
              <a:rPr lang="en-US" sz="2200" b="1" u="sng" dirty="0">
                <a:latin typeface="Metropolis"/>
              </a:rPr>
              <a:t> </a:t>
            </a:r>
            <a:r>
              <a:rPr lang="en-US" sz="2200" b="1" dirty="0">
                <a:latin typeface="Metropolis"/>
              </a:rPr>
              <a:t>Retransmission</a:t>
            </a:r>
            <a:r>
              <a:rPr lang="en-US" sz="2200" dirty="0">
                <a:latin typeface="Metropolis"/>
              </a:rPr>
              <a:t> occurs.</a:t>
            </a:r>
          </a:p>
          <a:p>
            <a:pPr fontAlgn="base"/>
            <a:r>
              <a:rPr lang="en-US" sz="2200" dirty="0">
                <a:latin typeface="Metropolis"/>
              </a:rPr>
              <a:t>Sender retransmits the same segment and resets the timer.</a:t>
            </a:r>
          </a:p>
          <a:p>
            <a:pPr fontAlgn="base"/>
            <a:r>
              <a:rPr lang="en-US" sz="2200" dirty="0">
                <a:latin typeface="Metropolis"/>
              </a:rPr>
              <a:t>The value of time out timer is dynamic and changes with the amount of traffic in the network.</a:t>
            </a:r>
          </a:p>
          <a:p>
            <a:r>
              <a:rPr lang="en-US" sz="2200" dirty="0">
                <a:latin typeface="Metropolis"/>
              </a:rPr>
              <a:t>Time out timer is also called as </a:t>
            </a:r>
            <a:r>
              <a:rPr lang="en-US" sz="2200" b="1" dirty="0">
                <a:latin typeface="Metropolis"/>
              </a:rPr>
              <a:t>Retransmission Timer</a:t>
            </a:r>
            <a:r>
              <a:rPr lang="en-US" sz="2200" dirty="0">
                <a:latin typeface="Metropolis"/>
              </a:rPr>
              <a:t>.</a:t>
            </a:r>
            <a:endParaRPr lang="en-IN" sz="2200" dirty="0">
              <a:latin typeface="Metropolis"/>
            </a:endParaRPr>
          </a:p>
        </p:txBody>
      </p:sp>
    </p:spTree>
    <p:extLst>
      <p:ext uri="{BB962C8B-B14F-4D97-AF65-F5344CB8AC3E}">
        <p14:creationId xmlns:p14="http://schemas.microsoft.com/office/powerpoint/2010/main" val="1702095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8265C0-1ADB-4C08-8928-686916E394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Title 1">
            <a:extLst>
              <a:ext uri="{FF2B5EF4-FFF2-40B4-BE49-F238E27FC236}">
                <a16:creationId xmlns:a16="http://schemas.microsoft.com/office/drawing/2014/main" id="{5AEFE09A-344D-BD2F-32EB-89410AD6730E}"/>
              </a:ext>
            </a:extLst>
          </p:cNvPr>
          <p:cNvSpPr>
            <a:spLocks noGrp="1"/>
          </p:cNvSpPr>
          <p:nvPr>
            <p:ph type="title"/>
          </p:nvPr>
        </p:nvSpPr>
        <p:spPr>
          <a:xfrm>
            <a:off x="838200" y="365125"/>
            <a:ext cx="10515600" cy="1325563"/>
          </a:xfrm>
        </p:spPr>
        <p:txBody>
          <a:bodyPr>
            <a:noAutofit/>
          </a:bodyPr>
          <a:lstStyle/>
          <a:p>
            <a:r>
              <a:rPr lang="en-IN" sz="3600" dirty="0">
                <a:latin typeface="Metropolis"/>
              </a:rPr>
              <a:t>Time Wait Timer</a:t>
            </a:r>
            <a:br>
              <a:rPr lang="en-IN" sz="3600" dirty="0">
                <a:latin typeface="Metropolis"/>
              </a:rPr>
            </a:br>
            <a:br>
              <a:rPr lang="en-IN" sz="3600" dirty="0">
                <a:latin typeface="Metropolis"/>
              </a:rPr>
            </a:br>
            <a:endParaRPr lang="en-IN" sz="3600" dirty="0">
              <a:latin typeface="Metropolis"/>
            </a:endParaRPr>
          </a:p>
        </p:txBody>
      </p:sp>
      <p:sp>
        <p:nvSpPr>
          <p:cNvPr id="6" name="Text Placeholder 2">
            <a:extLst>
              <a:ext uri="{FF2B5EF4-FFF2-40B4-BE49-F238E27FC236}">
                <a16:creationId xmlns:a16="http://schemas.microsoft.com/office/drawing/2014/main" id="{8D276D61-7D6C-63DF-848D-51696C5DF23E}"/>
              </a:ext>
            </a:extLst>
          </p:cNvPr>
          <p:cNvSpPr>
            <a:spLocks noGrp="1"/>
          </p:cNvSpPr>
          <p:nvPr>
            <p:ph type="body" idx="1"/>
          </p:nvPr>
        </p:nvSpPr>
        <p:spPr>
          <a:xfrm>
            <a:off x="838200" y="1450871"/>
            <a:ext cx="10515600" cy="4351338"/>
          </a:xfrm>
        </p:spPr>
        <p:txBody>
          <a:bodyPr>
            <a:noAutofit/>
          </a:bodyPr>
          <a:lstStyle/>
          <a:p>
            <a:r>
              <a:rPr lang="en-US" sz="2400" dirty="0">
                <a:latin typeface="Metropolis"/>
              </a:rPr>
              <a:t>TCP uses a time wait timer during connection termination</a:t>
            </a:r>
          </a:p>
          <a:p>
            <a:pPr fontAlgn="base"/>
            <a:r>
              <a:rPr lang="en-US" sz="2400" dirty="0">
                <a:latin typeface="Metropolis"/>
              </a:rPr>
              <a:t>Sender starts the time wait timer after sending the ACK for the second FIN segment.</a:t>
            </a:r>
          </a:p>
          <a:p>
            <a:pPr fontAlgn="base"/>
            <a:r>
              <a:rPr lang="en-US" sz="2400" dirty="0">
                <a:latin typeface="Metropolis"/>
              </a:rPr>
              <a:t>It allows to resend the final acknowledgement if it gets lost.</a:t>
            </a:r>
          </a:p>
          <a:p>
            <a:pPr fontAlgn="base"/>
            <a:r>
              <a:rPr lang="en-US" sz="2400" dirty="0">
                <a:latin typeface="Metropolis"/>
              </a:rPr>
              <a:t>It prevents the just closed port from reopening again quickly to some other application.</a:t>
            </a:r>
          </a:p>
          <a:p>
            <a:pPr fontAlgn="base"/>
            <a:r>
              <a:rPr lang="en-US" sz="2400" dirty="0">
                <a:latin typeface="Metropolis"/>
              </a:rPr>
              <a:t>It ensures that all the segments heading towards the just closed port are discarded.</a:t>
            </a:r>
          </a:p>
          <a:p>
            <a:pPr fontAlgn="base"/>
            <a:r>
              <a:rPr lang="en-US" sz="2400" dirty="0">
                <a:latin typeface="Metropolis"/>
              </a:rPr>
              <a:t>The value of time wait timer is usually set to twice the lifetime of a TCP segment.</a:t>
            </a:r>
          </a:p>
          <a:p>
            <a:pPr marL="114300" indent="0">
              <a:buNone/>
            </a:pPr>
            <a:endParaRPr lang="en-IN" sz="2400" dirty="0">
              <a:latin typeface="Metropolis"/>
            </a:endParaRPr>
          </a:p>
        </p:txBody>
      </p:sp>
    </p:spTree>
    <p:extLst>
      <p:ext uri="{BB962C8B-B14F-4D97-AF65-F5344CB8AC3E}">
        <p14:creationId xmlns:p14="http://schemas.microsoft.com/office/powerpoint/2010/main" val="2019078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A15274-441A-5317-B5CA-71E0F482C3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5" name="Title 1">
            <a:extLst>
              <a:ext uri="{FF2B5EF4-FFF2-40B4-BE49-F238E27FC236}">
                <a16:creationId xmlns:a16="http://schemas.microsoft.com/office/drawing/2014/main" id="{AE129D00-7E0E-18FF-887D-1E5AAFF66C1F}"/>
              </a:ext>
            </a:extLst>
          </p:cNvPr>
          <p:cNvSpPr>
            <a:spLocks noGrp="1"/>
          </p:cNvSpPr>
          <p:nvPr>
            <p:ph type="title"/>
          </p:nvPr>
        </p:nvSpPr>
        <p:spPr>
          <a:xfrm>
            <a:off x="838200" y="365125"/>
            <a:ext cx="10515600" cy="1325563"/>
          </a:xfrm>
        </p:spPr>
        <p:txBody>
          <a:bodyPr>
            <a:normAutofit/>
          </a:bodyPr>
          <a:lstStyle/>
          <a:p>
            <a:r>
              <a:rPr lang="en-IN" sz="3600" dirty="0">
                <a:latin typeface="Metropolis"/>
              </a:rPr>
              <a:t>Keep Alive Timer</a:t>
            </a:r>
          </a:p>
        </p:txBody>
      </p:sp>
      <p:sp>
        <p:nvSpPr>
          <p:cNvPr id="6" name="Text Placeholder 2">
            <a:extLst>
              <a:ext uri="{FF2B5EF4-FFF2-40B4-BE49-F238E27FC236}">
                <a16:creationId xmlns:a16="http://schemas.microsoft.com/office/drawing/2014/main" id="{0B724E68-A4A2-B462-A502-5C7ECB9F5073}"/>
              </a:ext>
            </a:extLst>
          </p:cNvPr>
          <p:cNvSpPr>
            <a:spLocks noGrp="1"/>
          </p:cNvSpPr>
          <p:nvPr>
            <p:ph type="body" idx="1"/>
          </p:nvPr>
        </p:nvSpPr>
        <p:spPr>
          <a:xfrm>
            <a:off x="838200" y="1825625"/>
            <a:ext cx="10515600" cy="4351338"/>
          </a:xfrm>
        </p:spPr>
        <p:txBody>
          <a:bodyPr>
            <a:normAutofit/>
          </a:bodyPr>
          <a:lstStyle/>
          <a:p>
            <a:pPr fontAlgn="base"/>
            <a:r>
              <a:rPr lang="en-US" sz="2400" dirty="0">
                <a:latin typeface="Metropolis"/>
              </a:rPr>
              <a:t>TCP uses a keep alive timer to prevent long idle TCP connections.</a:t>
            </a:r>
          </a:p>
          <a:p>
            <a:pPr fontAlgn="base"/>
            <a:r>
              <a:rPr lang="en-US" sz="2400" dirty="0">
                <a:latin typeface="Metropolis"/>
              </a:rPr>
              <a:t>Each time server hears from the client, it resets the keep alive timer to 2 hours.</a:t>
            </a:r>
          </a:p>
          <a:p>
            <a:pPr fontAlgn="base"/>
            <a:r>
              <a:rPr lang="en-US" sz="2400" dirty="0">
                <a:latin typeface="Metropolis"/>
              </a:rPr>
              <a:t>If server does not hear from the client for 2 hours, it sends 10 probe segments to the client.</a:t>
            </a:r>
          </a:p>
          <a:p>
            <a:pPr fontAlgn="base"/>
            <a:r>
              <a:rPr lang="en-US" sz="2400" dirty="0">
                <a:latin typeface="Metropolis"/>
              </a:rPr>
              <a:t>These probe segments are sent at a gap of 75 seconds.</a:t>
            </a:r>
          </a:p>
          <a:p>
            <a:pPr fontAlgn="base"/>
            <a:r>
              <a:rPr lang="en-US" sz="2400" dirty="0">
                <a:latin typeface="Metropolis"/>
              </a:rPr>
              <a:t>If server receives no response after sending 10 probe segments, it assumes that the client is down.</a:t>
            </a:r>
          </a:p>
          <a:p>
            <a:pPr fontAlgn="base"/>
            <a:r>
              <a:rPr lang="en-US" sz="2400" dirty="0">
                <a:latin typeface="Metropolis"/>
              </a:rPr>
              <a:t>Then, server terminates the connection automatically.</a:t>
            </a:r>
          </a:p>
          <a:p>
            <a:pPr marL="114300" indent="0">
              <a:buNone/>
            </a:pPr>
            <a:endParaRPr lang="en-IN" sz="2400" dirty="0">
              <a:latin typeface="Metropolis"/>
            </a:endParaRPr>
          </a:p>
        </p:txBody>
      </p:sp>
    </p:spTree>
    <p:extLst>
      <p:ext uri="{BB962C8B-B14F-4D97-AF65-F5344CB8AC3E}">
        <p14:creationId xmlns:p14="http://schemas.microsoft.com/office/powerpoint/2010/main" val="3787871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933C00-F08C-E91C-FF40-C74978007A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Title 1">
            <a:extLst>
              <a:ext uri="{FF2B5EF4-FFF2-40B4-BE49-F238E27FC236}">
                <a16:creationId xmlns:a16="http://schemas.microsoft.com/office/drawing/2014/main" id="{4B715FE9-86E9-6D02-E8AD-49DFCBCB1602}"/>
              </a:ext>
            </a:extLst>
          </p:cNvPr>
          <p:cNvSpPr>
            <a:spLocks noGrp="1"/>
          </p:cNvSpPr>
          <p:nvPr>
            <p:ph type="title"/>
          </p:nvPr>
        </p:nvSpPr>
        <p:spPr>
          <a:xfrm>
            <a:off x="838200" y="365125"/>
            <a:ext cx="10515600" cy="1325563"/>
          </a:xfrm>
        </p:spPr>
        <p:txBody>
          <a:bodyPr>
            <a:normAutofit/>
          </a:bodyPr>
          <a:lstStyle/>
          <a:p>
            <a:r>
              <a:rPr lang="en-IN" sz="3600" dirty="0">
                <a:latin typeface="Metropolis"/>
              </a:rPr>
              <a:t>Persistent Timer</a:t>
            </a:r>
          </a:p>
        </p:txBody>
      </p:sp>
      <p:sp>
        <p:nvSpPr>
          <p:cNvPr id="6" name="Text Placeholder 2">
            <a:extLst>
              <a:ext uri="{FF2B5EF4-FFF2-40B4-BE49-F238E27FC236}">
                <a16:creationId xmlns:a16="http://schemas.microsoft.com/office/drawing/2014/main" id="{E4BFCE01-9572-B62B-9E83-EBFE44BD831B}"/>
              </a:ext>
            </a:extLst>
          </p:cNvPr>
          <p:cNvSpPr>
            <a:spLocks noGrp="1"/>
          </p:cNvSpPr>
          <p:nvPr>
            <p:ph type="body" idx="1"/>
          </p:nvPr>
        </p:nvSpPr>
        <p:spPr>
          <a:xfrm>
            <a:off x="567463" y="1253331"/>
            <a:ext cx="10515600" cy="4351338"/>
          </a:xfrm>
        </p:spPr>
        <p:txBody>
          <a:bodyPr>
            <a:noAutofit/>
          </a:bodyPr>
          <a:lstStyle/>
          <a:p>
            <a:pPr fontAlgn="base"/>
            <a:r>
              <a:rPr lang="en-US" sz="2200" dirty="0">
                <a:latin typeface="Metropolis"/>
              </a:rPr>
              <a:t>TCP uses a persistent timer to deal with a zero-window-size deadlock situation.</a:t>
            </a:r>
          </a:p>
          <a:p>
            <a:pPr fontAlgn="base"/>
            <a:r>
              <a:rPr lang="en-US" sz="2200" dirty="0">
                <a:latin typeface="Metropolis"/>
              </a:rPr>
              <a:t>It keeps the window size information flowing even if the other end closes its receiver window.</a:t>
            </a:r>
          </a:p>
          <a:p>
            <a:pPr marL="114300" indent="0" fontAlgn="base">
              <a:buNone/>
            </a:pPr>
            <a:r>
              <a:rPr lang="en-US" sz="2200" dirty="0">
                <a:latin typeface="Metropolis"/>
              </a:rPr>
              <a:t> </a:t>
            </a:r>
            <a:r>
              <a:rPr lang="en-US" sz="2200" b="1" u="sng" dirty="0">
                <a:latin typeface="Metropolis"/>
              </a:rPr>
              <a:t>Explanation</a:t>
            </a:r>
            <a:endParaRPr lang="en-US" sz="2200" dirty="0">
              <a:latin typeface="Metropolis"/>
            </a:endParaRPr>
          </a:p>
          <a:p>
            <a:pPr fontAlgn="base"/>
            <a:r>
              <a:rPr lang="en-US" sz="2200" dirty="0">
                <a:latin typeface="Metropolis"/>
              </a:rPr>
              <a:t>Consider the following situation-</a:t>
            </a:r>
          </a:p>
          <a:p>
            <a:pPr fontAlgn="base"/>
            <a:r>
              <a:rPr lang="en-US" sz="2200" dirty="0">
                <a:latin typeface="Metropolis"/>
              </a:rPr>
              <a:t>Sender receives an acknowledgment from the receiver with zero window size.</a:t>
            </a:r>
          </a:p>
          <a:p>
            <a:pPr fontAlgn="base"/>
            <a:r>
              <a:rPr lang="en-US" sz="2200" dirty="0">
                <a:latin typeface="Metropolis"/>
              </a:rPr>
              <a:t>This indicates the sender to wait.</a:t>
            </a:r>
          </a:p>
          <a:p>
            <a:pPr fontAlgn="base"/>
            <a:r>
              <a:rPr lang="en-US" sz="2200" dirty="0">
                <a:latin typeface="Metropolis"/>
              </a:rPr>
              <a:t>Later, receiver updates the window size and </a:t>
            </a:r>
            <a:r>
              <a:rPr lang="en-US" sz="2200" dirty="0" err="1">
                <a:latin typeface="Metropolis"/>
              </a:rPr>
              <a:t>and</a:t>
            </a:r>
            <a:r>
              <a:rPr lang="en-US" sz="2200" dirty="0">
                <a:latin typeface="Metropolis"/>
              </a:rPr>
              <a:t> sends the segment with the update to the sender.</a:t>
            </a:r>
          </a:p>
          <a:p>
            <a:pPr fontAlgn="base"/>
            <a:r>
              <a:rPr lang="en-US" sz="2200" dirty="0">
                <a:latin typeface="Metropolis"/>
              </a:rPr>
              <a:t>This segment gets lost.</a:t>
            </a:r>
          </a:p>
          <a:p>
            <a:pPr fontAlgn="base"/>
            <a:r>
              <a:rPr lang="en-US" sz="2200" dirty="0">
                <a:latin typeface="Metropolis"/>
              </a:rPr>
              <a:t>Now, both sender and receiver keeps waiting for each other to do something.</a:t>
            </a:r>
          </a:p>
          <a:p>
            <a:pPr fontAlgn="base"/>
            <a:r>
              <a:rPr lang="en-US" sz="2200" dirty="0">
                <a:latin typeface="Metropolis"/>
              </a:rPr>
              <a:t>To deal with such a situation, TCP uses a persistent timer.</a:t>
            </a:r>
          </a:p>
          <a:p>
            <a:pPr marL="114300" indent="0">
              <a:buNone/>
            </a:pPr>
            <a:endParaRPr lang="en-IN" sz="2200" dirty="0">
              <a:latin typeface="Metropolis"/>
            </a:endParaRPr>
          </a:p>
        </p:txBody>
      </p:sp>
    </p:spTree>
    <p:extLst>
      <p:ext uri="{BB962C8B-B14F-4D97-AF65-F5344CB8AC3E}">
        <p14:creationId xmlns:p14="http://schemas.microsoft.com/office/powerpoint/2010/main" val="180559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8B48D9-5B53-5895-C058-504EBB718A0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5" name="Text Placeholder 2">
            <a:extLst>
              <a:ext uri="{FF2B5EF4-FFF2-40B4-BE49-F238E27FC236}">
                <a16:creationId xmlns:a16="http://schemas.microsoft.com/office/drawing/2014/main" id="{DBADE48C-3666-36E1-EFC0-C71161DF79D1}"/>
              </a:ext>
            </a:extLst>
          </p:cNvPr>
          <p:cNvSpPr>
            <a:spLocks noGrp="1"/>
          </p:cNvSpPr>
          <p:nvPr>
            <p:ph type="body" idx="1"/>
          </p:nvPr>
        </p:nvSpPr>
        <p:spPr>
          <a:xfrm>
            <a:off x="1108937" y="971185"/>
            <a:ext cx="10515600" cy="4351338"/>
          </a:xfrm>
        </p:spPr>
        <p:txBody>
          <a:bodyPr>
            <a:normAutofit fontScale="85000" lnSpcReduction="20000"/>
          </a:bodyPr>
          <a:lstStyle/>
          <a:p>
            <a:pPr fontAlgn="base"/>
            <a:r>
              <a:rPr lang="en-US" dirty="0">
                <a:latin typeface="Metropolis"/>
              </a:rPr>
              <a:t>Sender starts the persistent timer on receiving an ACK from the receiver with a zero window size.</a:t>
            </a:r>
          </a:p>
          <a:p>
            <a:pPr fontAlgn="base"/>
            <a:r>
              <a:rPr lang="en-US" dirty="0">
                <a:latin typeface="Metropolis"/>
              </a:rPr>
              <a:t>When persistent timer goes off, sender sends a special segment to the receiver.</a:t>
            </a:r>
          </a:p>
          <a:p>
            <a:pPr fontAlgn="base"/>
            <a:r>
              <a:rPr lang="en-US" dirty="0">
                <a:latin typeface="Metropolis"/>
              </a:rPr>
              <a:t>This special segment is called as probe segment and contains only 1 byte of new data.</a:t>
            </a:r>
          </a:p>
          <a:p>
            <a:pPr fontAlgn="base"/>
            <a:r>
              <a:rPr lang="en-US" dirty="0">
                <a:latin typeface="Metropolis"/>
              </a:rPr>
              <a:t>Response sent by the receiver to the probe segment gives the updated window size.</a:t>
            </a:r>
          </a:p>
          <a:p>
            <a:pPr fontAlgn="base"/>
            <a:r>
              <a:rPr lang="en-US" dirty="0">
                <a:latin typeface="Metropolis"/>
              </a:rPr>
              <a:t>If the updated window size is non-zero, it means data can be sent now.</a:t>
            </a:r>
          </a:p>
          <a:p>
            <a:pPr fontAlgn="base"/>
            <a:r>
              <a:rPr lang="en-US" dirty="0">
                <a:latin typeface="Metropolis"/>
              </a:rPr>
              <a:t>If the updated window size is still zero, the persistent timer is set again and the cycle repeats.</a:t>
            </a:r>
          </a:p>
          <a:p>
            <a:pPr marL="114300" indent="0">
              <a:buNone/>
            </a:pPr>
            <a:br>
              <a:rPr lang="en-US" dirty="0">
                <a:latin typeface="Metropolis"/>
              </a:rPr>
            </a:br>
            <a:endParaRPr lang="en-IN" dirty="0">
              <a:latin typeface="Metropolis"/>
            </a:endParaRPr>
          </a:p>
        </p:txBody>
      </p:sp>
    </p:spTree>
    <p:extLst>
      <p:ext uri="{BB962C8B-B14F-4D97-AF65-F5344CB8AC3E}">
        <p14:creationId xmlns:p14="http://schemas.microsoft.com/office/powerpoint/2010/main" val="556316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5"/>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75" name="Google Shape;275;p15"/>
          <p:cNvSpPr txBox="1">
            <a:spLocks noGrp="1"/>
          </p:cNvSpPr>
          <p:nvPr>
            <p:ph type="title"/>
          </p:nvPr>
        </p:nvSpPr>
        <p:spPr>
          <a:xfrm>
            <a:off x="730622" y="673962"/>
            <a:ext cx="3706907" cy="66468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A32837"/>
              </a:buClr>
              <a:buSzPts val="4800"/>
              <a:buFont typeface="Arial"/>
              <a:buNone/>
            </a:pPr>
            <a:r>
              <a:rPr lang="en-US" sz="4800" i="0" u="none" strike="noStrike">
                <a:solidFill>
                  <a:srgbClr val="A32837"/>
                </a:solidFill>
              </a:rPr>
              <a:t>Thank You!</a:t>
            </a:r>
            <a:endParaRPr sz="4800"/>
          </a:p>
        </p:txBody>
      </p:sp>
      <p:cxnSp>
        <p:nvCxnSpPr>
          <p:cNvPr id="276" name="Google Shape;276;p15"/>
          <p:cNvCxnSpPr/>
          <p:nvPr/>
        </p:nvCxnSpPr>
        <p:spPr>
          <a:xfrm>
            <a:off x="838200" y="1495245"/>
            <a:ext cx="3498011" cy="0"/>
          </a:xfrm>
          <a:prstGeom prst="straightConnector1">
            <a:avLst/>
          </a:prstGeom>
          <a:noFill/>
          <a:ln w="57150" cap="flat" cmpd="sng">
            <a:solidFill>
              <a:schemeClr val="dk2"/>
            </a:solidFill>
            <a:prstDash val="solid"/>
            <a:miter lim="800000"/>
            <a:headEnd type="none" w="sm" len="sm"/>
            <a:tailEnd type="none" w="sm" len="sm"/>
          </a:ln>
        </p:spPr>
      </p:cxnSp>
      <p:cxnSp>
        <p:nvCxnSpPr>
          <p:cNvPr id="277" name="Google Shape;277;p15"/>
          <p:cNvCxnSpPr/>
          <p:nvPr/>
        </p:nvCxnSpPr>
        <p:spPr>
          <a:xfrm>
            <a:off x="4312307" y="1495245"/>
            <a:ext cx="2760262" cy="0"/>
          </a:xfrm>
          <a:prstGeom prst="straightConnector1">
            <a:avLst/>
          </a:prstGeom>
          <a:noFill/>
          <a:ln w="57150" cap="flat" cmpd="sng">
            <a:solidFill>
              <a:schemeClr val="lt2"/>
            </a:solidFill>
            <a:prstDash val="solid"/>
            <a:miter lim="800000"/>
            <a:headEnd type="none" w="sm" len="sm"/>
            <a:tailEnd type="none" w="sm" len="sm"/>
          </a:ln>
        </p:spPr>
      </p:cxnSp>
      <p:sp>
        <p:nvSpPr>
          <p:cNvPr id="278" name="Google Shape;27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0000"/>
              </a:buClr>
              <a:buSzPts val="3200"/>
              <a:buNone/>
            </a:pPr>
            <a:r>
              <a:rPr lang="en-US" sz="3200" b="0" i="0" u="none" strike="noStrike">
                <a:solidFill>
                  <a:srgbClr val="000000"/>
                </a:solidFill>
                <a:latin typeface="Arial"/>
                <a:ea typeface="Arial"/>
                <a:cs typeface="Arial"/>
                <a:sym typeface="Arial"/>
              </a:rPr>
              <a:t>For any query/suggestions pls mail us at </a:t>
            </a:r>
            <a:endParaRPr sz="3200" b="0">
              <a:latin typeface="Arial"/>
              <a:ea typeface="Arial"/>
              <a:cs typeface="Arial"/>
              <a:sym typeface="Arial"/>
            </a:endParaRPr>
          </a:p>
          <a:p>
            <a:pPr marL="0" lvl="0" indent="0" algn="l" rtl="0">
              <a:lnSpc>
                <a:spcPct val="90000"/>
              </a:lnSpc>
              <a:spcBef>
                <a:spcPts val="0"/>
              </a:spcBef>
              <a:spcAft>
                <a:spcPts val="0"/>
              </a:spcAft>
              <a:buClr>
                <a:srgbClr val="000000"/>
              </a:buClr>
              <a:buSzPts val="3200"/>
              <a:buNone/>
            </a:pPr>
            <a:r>
              <a:rPr lang="en-US" sz="3200" b="1" i="0" u="sng" strike="noStrike">
                <a:solidFill>
                  <a:schemeClr val="hlink"/>
                </a:solidFill>
                <a:latin typeface="Arial"/>
                <a:ea typeface="Arial"/>
                <a:cs typeface="Arial"/>
                <a:sym typeface="Arial"/>
                <a:hlinkClick r:id="rId3"/>
              </a:rPr>
              <a:t>suggestions@medicaps.ac.in</a:t>
            </a:r>
            <a:endParaRPr sz="3200" b="0">
              <a:latin typeface="Arial"/>
              <a:ea typeface="Arial"/>
              <a:cs typeface="Arial"/>
              <a:sym typeface="Arial"/>
            </a:endParaRPr>
          </a:p>
          <a:p>
            <a:pPr marL="0" lvl="0" indent="0" algn="l" rtl="0">
              <a:lnSpc>
                <a:spcPct val="90000"/>
              </a:lnSpc>
              <a:spcBef>
                <a:spcPts val="1000"/>
              </a:spcBef>
              <a:spcAft>
                <a:spcPts val="0"/>
              </a:spcAft>
              <a:buClr>
                <a:schemeClr val="dk1"/>
              </a:buClr>
              <a:buSzPts val="4000"/>
              <a:buNone/>
            </a:pPr>
            <a:br>
              <a:rPr lang="en-US" sz="4000">
                <a:latin typeface="Arial"/>
                <a:ea typeface="Arial"/>
                <a:cs typeface="Arial"/>
                <a:sym typeface="Arial"/>
              </a:rPr>
            </a:br>
            <a:endParaRPr sz="4000">
              <a:latin typeface="Arial"/>
              <a:ea typeface="Arial"/>
              <a:cs typeface="Arial"/>
              <a:sym typeface="Arial"/>
            </a:endParaRPr>
          </a:p>
          <a:p>
            <a:pPr marL="0" lvl="0" indent="0" algn="l" rtl="0">
              <a:lnSpc>
                <a:spcPct val="90000"/>
              </a:lnSpc>
              <a:spcBef>
                <a:spcPts val="1000"/>
              </a:spcBef>
              <a:spcAft>
                <a:spcPts val="0"/>
              </a:spcAft>
              <a:buClr>
                <a:schemeClr val="dk1"/>
              </a:buClr>
              <a:buSzPts val="2500"/>
              <a:buNone/>
            </a:pPr>
            <a:endParaRPr sz="2500"/>
          </a:p>
          <a:p>
            <a:pPr marL="0" lvl="0" indent="0" algn="l" rtl="0">
              <a:lnSpc>
                <a:spcPct val="90000"/>
              </a:lnSpc>
              <a:spcBef>
                <a:spcPts val="1000"/>
              </a:spcBef>
              <a:spcAft>
                <a:spcPts val="0"/>
              </a:spcAft>
              <a:buClr>
                <a:schemeClr val="dk1"/>
              </a:buClr>
              <a:buSzPts val="2500"/>
              <a:buNone/>
            </a:pPr>
            <a:endParaRPr sz="2500"/>
          </a:p>
          <a:p>
            <a:pPr marL="0" lvl="0" indent="0" algn="l" rtl="0">
              <a:lnSpc>
                <a:spcPct val="90000"/>
              </a:lnSpc>
              <a:spcBef>
                <a:spcPts val="1000"/>
              </a:spcBef>
              <a:spcAft>
                <a:spcPts val="0"/>
              </a:spcAft>
              <a:buClr>
                <a:schemeClr val="dk1"/>
              </a:buClr>
              <a:buSzPts val="2500"/>
              <a:buNone/>
            </a:pPr>
            <a:endParaRPr sz="2500"/>
          </a:p>
          <a:p>
            <a:pPr marL="0" lvl="0" indent="0" algn="l" rtl="0">
              <a:lnSpc>
                <a:spcPct val="90000"/>
              </a:lnSpc>
              <a:spcBef>
                <a:spcPts val="1000"/>
              </a:spcBef>
              <a:spcAft>
                <a:spcPts val="0"/>
              </a:spcAft>
              <a:buClr>
                <a:schemeClr val="dk1"/>
              </a:buClr>
              <a:buSzPts val="2500"/>
              <a:buNone/>
            </a:pP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1117</Words>
  <Application>Microsoft Office PowerPoint</Application>
  <PresentationFormat>Widescreen</PresentationFormat>
  <Paragraphs>124</Paragraphs>
  <Slides>18</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Calibri</vt:lpstr>
      <vt:lpstr>Metropolis</vt:lpstr>
      <vt:lpstr>Zilla Slab</vt:lpstr>
      <vt:lpstr>Arial</vt:lpstr>
      <vt:lpstr>Office Theme</vt:lpstr>
      <vt:lpstr>Office Theme</vt:lpstr>
      <vt:lpstr>CS3CO43 Computer Network </vt:lpstr>
      <vt:lpstr>  Content  </vt:lpstr>
      <vt:lpstr>TCP Segment structure</vt:lpstr>
      <vt:lpstr>The TCP Segment Header</vt:lpstr>
      <vt:lpstr>Header Fields</vt:lpstr>
      <vt:lpstr>Header Fields</vt:lpstr>
      <vt:lpstr>Header Fields</vt:lpstr>
      <vt:lpstr>Header Fields</vt:lpstr>
      <vt:lpstr>Header Fields</vt:lpstr>
      <vt:lpstr>TCP timer management  </vt:lpstr>
      <vt:lpstr>TCP timer management  </vt:lpstr>
      <vt:lpstr>Time Out Timer </vt:lpstr>
      <vt:lpstr>Time Wait Timer  </vt:lpstr>
      <vt:lpstr>Keep Alive Timer</vt:lpstr>
      <vt:lpstr>Persistent Timer</vt:lpstr>
      <vt:lpstr>PowerPoint Presentation</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Ashish</cp:lastModifiedBy>
  <cp:revision>5</cp:revision>
  <dcterms:modified xsi:type="dcterms:W3CDTF">2025-07-17T11:21:46Z</dcterms:modified>
</cp:coreProperties>
</file>